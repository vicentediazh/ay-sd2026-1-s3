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60" r:id="rId3"/>
    <p:sldId id="257" r:id="rId4"/>
    <p:sldId id="264" r:id="rId5"/>
    <p:sldId id="265" r:id="rId6"/>
    <p:sldId id="266" r:id="rId7"/>
    <p:sldId id="268" r:id="rId8"/>
    <p:sldId id="271" r:id="rId9"/>
    <p:sldId id="272" r:id="rId10"/>
    <p:sldId id="274" r:id="rId11"/>
    <p:sldId id="275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2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23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61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519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2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32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050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84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273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73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07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40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centeDiazH/AY-SD2026-1-S3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76C2A261-D372-1A97-14E8-B22E0849E3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23380" b="2037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D1D894A-009B-3EEB-B491-C2CE2E6CA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836343"/>
            <a:ext cx="10058400" cy="3566160"/>
          </a:xfrm>
        </p:spPr>
        <p:txBody>
          <a:bodyPr>
            <a:normAutofit/>
          </a:bodyPr>
          <a:lstStyle/>
          <a:p>
            <a:r>
              <a:rPr lang="es-CL" noProof="0" dirty="0">
                <a:solidFill>
                  <a:srgbClr val="FFFFFF"/>
                </a:solidFill>
              </a:rPr>
              <a:t>Ayudantía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66C05-16FC-01FE-77E8-1D4E30CEA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1"/>
            <a:ext cx="10058400" cy="1453895"/>
          </a:xfrm>
        </p:spPr>
        <p:txBody>
          <a:bodyPr>
            <a:normAutofit fontScale="62500" lnSpcReduction="20000"/>
          </a:bodyPr>
          <a:lstStyle/>
          <a:p>
            <a:r>
              <a:rPr lang="es-CL" dirty="0" err="1">
                <a:solidFill>
                  <a:srgbClr val="FFFFFF"/>
                </a:solidFill>
              </a:rPr>
              <a:t>SistemAS</a:t>
            </a:r>
            <a:r>
              <a:rPr lang="es-CL" dirty="0">
                <a:solidFill>
                  <a:srgbClr val="FFFFFF"/>
                </a:solidFill>
              </a:rPr>
              <a:t> </a:t>
            </a:r>
            <a:r>
              <a:rPr lang="es-CL" dirty="0" err="1">
                <a:solidFill>
                  <a:srgbClr val="FFFFFF"/>
                </a:solidFill>
              </a:rPr>
              <a:t>dISTRIBUIDOS</a:t>
            </a:r>
            <a:endParaRPr lang="es-CL" noProof="0" dirty="0">
              <a:solidFill>
                <a:srgbClr val="FFFFFF"/>
              </a:solidFill>
            </a:endParaRPr>
          </a:p>
          <a:p>
            <a:r>
              <a:rPr lang="es-CL" noProof="0" dirty="0">
                <a:solidFill>
                  <a:srgbClr val="FFFFFF"/>
                </a:solidFill>
              </a:rPr>
              <a:t>Profesor: Nicolas Hidalgo</a:t>
            </a:r>
          </a:p>
          <a:p>
            <a:r>
              <a:rPr lang="es-CL" noProof="0" dirty="0">
                <a:solidFill>
                  <a:srgbClr val="FFFFFF"/>
                </a:solidFill>
              </a:rPr>
              <a:t>Ayudante: Vicente Diaz Hormazábal</a:t>
            </a:r>
          </a:p>
          <a:p>
            <a:r>
              <a:rPr lang="es-CL" noProof="0" dirty="0">
                <a:solidFill>
                  <a:srgbClr val="FFFFFF"/>
                </a:solidFill>
              </a:rPr>
              <a:t>Sección </a:t>
            </a:r>
            <a:r>
              <a:rPr lang="es-CL" dirty="0">
                <a:solidFill>
                  <a:srgbClr val="FFFFFF"/>
                </a:solidFill>
              </a:rPr>
              <a:t>3</a:t>
            </a:r>
            <a:endParaRPr lang="es-CL" noProof="0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83BF985-5044-A9E2-FE48-75C0AAD42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590550"/>
            <a:ext cx="3762375" cy="581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895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246446-4C82-B973-B4D1-E5B42C62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4176361" cy="1666501"/>
          </a:xfrm>
        </p:spPr>
        <p:txBody>
          <a:bodyPr>
            <a:noAutofit/>
          </a:bodyPr>
          <a:lstStyle/>
          <a:p>
            <a:r>
              <a:rPr lang="es-CL" sz="8000" noProof="0" dirty="0">
                <a:solidFill>
                  <a:schemeClr val="tx1"/>
                </a:solidFill>
              </a:rPr>
              <a:t>Contacto</a:t>
            </a:r>
          </a:p>
        </p:txBody>
      </p: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2834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131BB1D-5A7B-B3EE-7E92-61B19AC40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0" y="2523849"/>
            <a:ext cx="5876442" cy="3635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4000" noProof="0" dirty="0" err="1">
                <a:solidFill>
                  <a:schemeClr val="tx1"/>
                </a:solidFill>
              </a:rPr>
              <a:t>Discord</a:t>
            </a:r>
            <a:r>
              <a:rPr lang="es-CL" sz="4000" noProof="0" dirty="0">
                <a:solidFill>
                  <a:schemeClr val="tx1"/>
                </a:solidFill>
              </a:rPr>
              <a:t>: </a:t>
            </a:r>
            <a:r>
              <a:rPr lang="es-CL" sz="4000" noProof="0" dirty="0" err="1">
                <a:solidFill>
                  <a:schemeClr val="tx1"/>
                </a:solidFill>
              </a:rPr>
              <a:t>BarrosLucoPalta</a:t>
            </a:r>
            <a:endParaRPr lang="es-CL" sz="4000" noProof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CL" sz="4000" noProof="0" dirty="0">
                <a:solidFill>
                  <a:schemeClr val="tx1"/>
                </a:solidFill>
              </a:rPr>
              <a:t>WSP: +569 5395 5405</a:t>
            </a:r>
          </a:p>
          <a:p>
            <a:pPr marL="0" indent="0">
              <a:buNone/>
            </a:pPr>
            <a:r>
              <a:rPr lang="es-CL" sz="4000" noProof="0" dirty="0" err="1">
                <a:solidFill>
                  <a:schemeClr val="tx1"/>
                </a:solidFill>
              </a:rPr>
              <a:t>Steam</a:t>
            </a:r>
            <a:r>
              <a:rPr lang="es-CL" sz="4000" noProof="0" dirty="0">
                <a:solidFill>
                  <a:schemeClr val="tx1"/>
                </a:solidFill>
              </a:rPr>
              <a:t>: </a:t>
            </a:r>
            <a:r>
              <a:rPr lang="es-CL" sz="4000" noProof="0" dirty="0" err="1">
                <a:solidFill>
                  <a:schemeClr val="tx1"/>
                </a:solidFill>
              </a:rPr>
              <a:t>Coustillier</a:t>
            </a:r>
            <a:endParaRPr lang="es-CL" sz="4000" noProof="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CL" sz="4000" noProof="0" dirty="0">
              <a:solidFill>
                <a:schemeClr val="tx1"/>
              </a:solidFill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5FEAD962-4117-9D02-40EF-C09452EB4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301" y="1626755"/>
            <a:ext cx="218122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3481590-EFD3-FBEB-862C-4DED842D2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220" y="294409"/>
            <a:ext cx="290512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735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3" name="Rectangle 2056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F1EAAF-3B2B-4092-8FEB-E8A6C2BF1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5453741" cy="1450757"/>
          </a:xfrm>
        </p:spPr>
        <p:txBody>
          <a:bodyPr>
            <a:normAutofit/>
          </a:bodyPr>
          <a:lstStyle/>
          <a:p>
            <a:r>
              <a:rPr lang="es-CL" sz="5000"/>
              <a:t>¿Qué son los sistemas distribuidos?</a:t>
            </a:r>
            <a:endParaRPr lang="es-CL" sz="5000" noProof="0"/>
          </a:p>
        </p:txBody>
      </p:sp>
      <p:cxnSp>
        <p:nvCxnSpPr>
          <p:cNvPr id="2064" name="Straight Connector 2058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553" y="2267421"/>
            <a:ext cx="48463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4480D7-E6FE-85BC-1C9E-139609823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5453739" cy="3461658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s-CL" noProof="0"/>
              <a:t> Conjunto de máquinas que coordinan sus acciones y que aparecen al usuario como sistema único y coherente.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s-CL" noProof="0"/>
              <a:t> Middleware: SD emplea software sobre la red para lograr cometido.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s-CL" noProof="0"/>
              <a:t> Red de computadores: usuarios interactúan directamente con las máquinas.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1C3AC6-F31E-8EA6-0DE0-07F6E38AA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132" y="634947"/>
            <a:ext cx="3935994" cy="2519036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51199BC-B7DA-95FC-9E67-C86442394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38254" y="3887723"/>
            <a:ext cx="2249006" cy="160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FBCE4DA-B5F0-E3CA-9EE0-A460A8D73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767" y="3405159"/>
            <a:ext cx="1793462" cy="2549328"/>
          </a:xfrm>
          <a:prstGeom prst="rect">
            <a:avLst/>
          </a:prstGeom>
        </p:spPr>
      </p:pic>
      <p:sp>
        <p:nvSpPr>
          <p:cNvPr id="2065" name="Rectangle 2060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34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246446-4C82-B973-B4D1-E5B42C62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es-CL" sz="4000" noProof="0" dirty="0"/>
              <a:t>¿Porqué y cuándo distribuir?</a:t>
            </a:r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131BB1D-5A7B-B3EE-7E92-61B19AC40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79"/>
            <a:ext cx="3205049" cy="3428043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s-CL" sz="2900" dirty="0"/>
              <a:t> Lograr </a:t>
            </a:r>
            <a:r>
              <a:rPr lang="es-ES" sz="2900" dirty="0"/>
              <a:t>escalabilidad, disponibilidad, eficiencia y cercanía al usuario.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sz="2900" dirty="0"/>
              <a:t> Supera limitaciones de un sistema centralizado.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900" dirty="0"/>
              <a:t> Dependencia al tamaño e infraestructura.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8198B998-E030-EE2F-B453-22DE7B3798BE}"/>
              </a:ext>
            </a:extLst>
          </p:cNvPr>
          <p:cNvSpPr txBox="1">
            <a:spLocks/>
          </p:cNvSpPr>
          <p:nvPr/>
        </p:nvSpPr>
        <p:spPr>
          <a:xfrm>
            <a:off x="4995811" y="2639378"/>
            <a:ext cx="3205049" cy="34280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L" sz="2200" dirty="0"/>
              <a:t>Ventajas: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 Compartir recursos.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 Mejora de desempeño.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 Mayor adaptabilidad.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 Mayor disponibilidad.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 Escalabilidad.</a:t>
            </a:r>
            <a:endParaRPr lang="es-ES" sz="2200" dirty="0"/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5819CA6A-309C-D6DD-5536-4B7F6C657233}"/>
              </a:ext>
            </a:extLst>
          </p:cNvPr>
          <p:cNvSpPr txBox="1">
            <a:spLocks/>
          </p:cNvSpPr>
          <p:nvPr/>
        </p:nvSpPr>
        <p:spPr>
          <a:xfrm>
            <a:off x="8200860" y="2639379"/>
            <a:ext cx="3748288" cy="439763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L" sz="2200" dirty="0"/>
              <a:t>Desafíos: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 Heterogeneidad del hardware.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 Consistencia de la interacción.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 Siempre disponible.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 Usuarios y apps no deben notar caídas.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CL" sz="2200" dirty="0"/>
              <a:t>Seguridad</a:t>
            </a:r>
            <a:endParaRPr lang="es-ES" sz="2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53B6BC-0F49-7CEB-566A-DF7087035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3669" y="310515"/>
            <a:ext cx="1619839" cy="261143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77191FE-804A-8219-CB66-C058F5D41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239" y="673390"/>
            <a:ext cx="1717473" cy="161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3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99DE0F-B3C4-7149-0B98-B8E26F16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66A56E-795D-DA68-3C09-E34B947DD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5453741" cy="1450757"/>
          </a:xfrm>
        </p:spPr>
        <p:txBody>
          <a:bodyPr>
            <a:normAutofit/>
          </a:bodyPr>
          <a:lstStyle/>
          <a:p>
            <a:r>
              <a:rPr lang="es-CL" noProof="0" dirty="0"/>
              <a:t>Objetivos de diseño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553" y="2267421"/>
            <a:ext cx="48463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69646F-C0F9-9656-BCC2-E012F16D4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224" y="2351556"/>
            <a:ext cx="5453739" cy="346165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CL" sz="2200" dirty="0"/>
              <a:t>Existen 4 objetivos al diseñar un sistema distribuido: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arenR"/>
            </a:pPr>
            <a:r>
              <a:rPr lang="es-CL" sz="2200" dirty="0"/>
              <a:t>Poner recursos a disposición.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arenR"/>
            </a:pPr>
            <a:r>
              <a:rPr lang="es-CL" sz="2200" dirty="0"/>
              <a:t>Hacer transparente la distribución.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arenR"/>
            </a:pPr>
            <a:r>
              <a:rPr lang="es-CL" sz="2200" dirty="0"/>
              <a:t>Ser abierto.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arenR"/>
            </a:pPr>
            <a:r>
              <a:rPr lang="es-CL" sz="2200" dirty="0"/>
              <a:t>Escalabilidad.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CC4CDE3-669B-A9D5-7B4E-DF7819F29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999" y="4901085"/>
            <a:ext cx="3123935" cy="1233862"/>
          </a:xfrm>
          <a:prstGeom prst="rect">
            <a:avLst/>
          </a:prstGeom>
        </p:spPr>
      </p:pic>
      <p:pic>
        <p:nvPicPr>
          <p:cNvPr id="1026" name="Picture 2" descr="Toma de Decisiones en Diseño: Ciencia vs. Intuición | Revista Digital  Experiencia UDAX | UDAX Universidad en Línea">
            <a:extLst>
              <a:ext uri="{FF2B5EF4-FFF2-40B4-BE49-F238E27FC236}">
                <a16:creationId xmlns:a16="http://schemas.microsoft.com/office/drawing/2014/main" id="{9A61F445-D219-63CE-5A22-76E9E086D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6" y="1261234"/>
            <a:ext cx="5689380" cy="379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583CF1B-AC10-1BB0-A46A-0FC9D9133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453" y="1907814"/>
            <a:ext cx="1200465" cy="13915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BCA8424-0657-BA5B-3918-58B7A37C9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394" y="2267421"/>
            <a:ext cx="1403712" cy="14816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8C9E945-E655-E1A7-116B-AFA7004E5E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6631" y="2325579"/>
            <a:ext cx="1403712" cy="142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4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123AE-34C1-7414-7251-C6DAB696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309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cxnSp>
        <p:nvCxnSpPr>
          <p:cNvPr id="3114" name="Straight Connector 310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15" name="Rectangle 3102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6" name="Rectangle 3104">
            <a:extLst>
              <a:ext uri="{FF2B5EF4-FFF2-40B4-BE49-F238E27FC236}">
                <a16:creationId xmlns:a16="http://schemas.microsoft.com/office/drawing/2014/main" id="{8EE702CF-91CE-4661-ACBF-3C8160D1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2265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117" name="Rectangle 3106">
            <a:extLst>
              <a:ext uri="{FF2B5EF4-FFF2-40B4-BE49-F238E27FC236}">
                <a16:creationId xmlns:a16="http://schemas.microsoft.com/office/drawing/2014/main" id="{C22DE4C3-F301-467F-AA92-57A8FB152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B9A14B-A9B5-E18D-632B-037B36E9F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354227"/>
            <a:ext cx="10909073" cy="101485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noProof="0" dirty="0">
                <a:solidFill>
                  <a:schemeClr val="bg1"/>
                </a:solidFill>
              </a:rPr>
              <a:t>1) Poner </a:t>
            </a:r>
            <a:r>
              <a:rPr lang="en-US" sz="6000" noProof="0" dirty="0" err="1">
                <a:solidFill>
                  <a:schemeClr val="bg1"/>
                </a:solidFill>
              </a:rPr>
              <a:t>recursos</a:t>
            </a:r>
            <a:r>
              <a:rPr lang="en-US" sz="6000" noProof="0" dirty="0">
                <a:solidFill>
                  <a:schemeClr val="bg1"/>
                </a:solidFill>
              </a:rPr>
              <a:t> a </a:t>
            </a:r>
            <a:r>
              <a:rPr lang="en-US" sz="6000" noProof="0" dirty="0" err="1">
                <a:solidFill>
                  <a:schemeClr val="bg1"/>
                </a:solidFill>
              </a:rPr>
              <a:t>disposición</a:t>
            </a:r>
            <a:r>
              <a:rPr lang="en-US" sz="6000" noProof="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3118" name="Straight Connector 3108">
            <a:extLst>
              <a:ext uri="{FF2B5EF4-FFF2-40B4-BE49-F238E27FC236}">
                <a16:creationId xmlns:a16="http://schemas.microsoft.com/office/drawing/2014/main" id="{F7F57F6B-E621-4E40-A34D-2FE12902A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6942" y="1466833"/>
            <a:ext cx="105156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9" name="Rectangle 3110">
            <a:extLst>
              <a:ext uri="{FF2B5EF4-FFF2-40B4-BE49-F238E27FC236}">
                <a16:creationId xmlns:a16="http://schemas.microsoft.com/office/drawing/2014/main" id="{C29A556F-7A49-46B7-A1C2-C0280C895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0C629612-ED75-AD56-7D7D-0E60874F3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5"/>
            <a:ext cx="5453739" cy="382083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200" dirty="0"/>
              <a:t> </a:t>
            </a:r>
            <a:r>
              <a:rPr lang="es-ES" sz="2200" dirty="0"/>
              <a:t>Facilitar a los usuarios y aplicaciones acceder recursos remotos de manera eficiente.</a:t>
            </a:r>
            <a:r>
              <a:rPr lang="es-CL" sz="2200" dirty="0"/>
              <a:t> 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200" dirty="0"/>
              <a:t> Razones para compartir: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200" dirty="0"/>
              <a:t>Económicas.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200" dirty="0"/>
              <a:t>Colaboración e intercambio de información.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200" dirty="0"/>
              <a:t> </a:t>
            </a:r>
            <a:r>
              <a:rPr lang="es-ES" sz="2200" dirty="0"/>
              <a:t>Si se incrementar conectividad y compartición de recursos la seguridad se vuelve relevante.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200" dirty="0"/>
              <a:t>Seguridad de la comunicación.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200" dirty="0"/>
              <a:t>Seguridad de acceso a los datos.</a:t>
            </a:r>
            <a:endParaRPr lang="es-CL" sz="2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88D9FE-639B-5465-E63C-63DD4A8C9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138" y="2756540"/>
            <a:ext cx="37528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508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38B6C-C2BB-87CB-2F55-1DB79D8FA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3098">
            <a:extLst>
              <a:ext uri="{FF2B5EF4-FFF2-40B4-BE49-F238E27FC236}">
                <a16:creationId xmlns:a16="http://schemas.microsoft.com/office/drawing/2014/main" id="{3D2457CD-EC09-47F7-551E-2865047E0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cxnSp>
        <p:nvCxnSpPr>
          <p:cNvPr id="3114" name="Straight Connector 3100">
            <a:extLst>
              <a:ext uri="{FF2B5EF4-FFF2-40B4-BE49-F238E27FC236}">
                <a16:creationId xmlns:a16="http://schemas.microsoft.com/office/drawing/2014/main" id="{EE16436B-CBFE-588D-51FE-F82C34A9E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15" name="Rectangle 3102">
            <a:extLst>
              <a:ext uri="{FF2B5EF4-FFF2-40B4-BE49-F238E27FC236}">
                <a16:creationId xmlns:a16="http://schemas.microsoft.com/office/drawing/2014/main" id="{59BDC7FF-67BE-3B31-3003-E84D18AA3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6" name="Rectangle 3104">
            <a:extLst>
              <a:ext uri="{FF2B5EF4-FFF2-40B4-BE49-F238E27FC236}">
                <a16:creationId xmlns:a16="http://schemas.microsoft.com/office/drawing/2014/main" id="{5CF3849A-FAF3-21E4-FE2F-1D00CECD8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2265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117" name="Rectangle 3106">
            <a:extLst>
              <a:ext uri="{FF2B5EF4-FFF2-40B4-BE49-F238E27FC236}">
                <a16:creationId xmlns:a16="http://schemas.microsoft.com/office/drawing/2014/main" id="{C7139205-4E31-7AFC-9D9C-D260CE291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935602-A42A-CEC9-3C8C-20000C4C9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354227"/>
            <a:ext cx="10909073" cy="101485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solidFill>
                  <a:schemeClr val="bg1"/>
                </a:solidFill>
              </a:rPr>
              <a:t>2) Hacer </a:t>
            </a:r>
            <a:r>
              <a:rPr lang="en-US" sz="6000" dirty="0" err="1">
                <a:solidFill>
                  <a:schemeClr val="bg1"/>
                </a:solidFill>
              </a:rPr>
              <a:t>transparente</a:t>
            </a:r>
            <a:r>
              <a:rPr lang="en-US" sz="6000" dirty="0">
                <a:solidFill>
                  <a:schemeClr val="bg1"/>
                </a:solidFill>
              </a:rPr>
              <a:t> la </a:t>
            </a:r>
            <a:r>
              <a:rPr lang="en-US" sz="6000" dirty="0" err="1">
                <a:solidFill>
                  <a:schemeClr val="bg1"/>
                </a:solidFill>
              </a:rPr>
              <a:t>distribución</a:t>
            </a:r>
            <a:r>
              <a:rPr lang="en-US" sz="6000" dirty="0">
                <a:solidFill>
                  <a:schemeClr val="bg1"/>
                </a:solidFill>
              </a:rPr>
              <a:t>.</a:t>
            </a:r>
            <a:endParaRPr lang="en-US" sz="6000" noProof="0" dirty="0">
              <a:solidFill>
                <a:schemeClr val="bg1"/>
              </a:solidFill>
            </a:endParaRPr>
          </a:p>
        </p:txBody>
      </p:sp>
      <p:cxnSp>
        <p:nvCxnSpPr>
          <p:cNvPr id="3118" name="Straight Connector 3108">
            <a:extLst>
              <a:ext uri="{FF2B5EF4-FFF2-40B4-BE49-F238E27FC236}">
                <a16:creationId xmlns:a16="http://schemas.microsoft.com/office/drawing/2014/main" id="{96D84A6F-2BB6-CF53-1074-D7B498718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6942" y="1466833"/>
            <a:ext cx="105156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9" name="Rectangle 3110">
            <a:extLst>
              <a:ext uri="{FF2B5EF4-FFF2-40B4-BE49-F238E27FC236}">
                <a16:creationId xmlns:a16="http://schemas.microsoft.com/office/drawing/2014/main" id="{1FCEFF1E-02B5-1DA2-B14D-C37C4F3B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BFBF48A-5D51-8B14-47BC-BBCED2BF2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351" y="4058733"/>
            <a:ext cx="3104841" cy="2287577"/>
          </a:xfrm>
          <a:prstGeom prst="rect">
            <a:avLst/>
          </a:prstGeom>
        </p:spPr>
      </p:pic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D95E3EE6-E5E1-5685-58A3-69C046B21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5"/>
            <a:ext cx="5453739" cy="22650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200" dirty="0"/>
              <a:t> </a:t>
            </a:r>
            <a:r>
              <a:rPr lang="es-ES" sz="2200" dirty="0"/>
              <a:t>Esconder el hecho que procesos y recursos están físicamente distribuidos en múltiples computadores. 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200" dirty="0"/>
              <a:t> </a:t>
            </a:r>
            <a:r>
              <a:rPr lang="es-ES" sz="2200" dirty="0"/>
              <a:t>Usuarios y aplicaciones ven un sistema único. 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200" dirty="0"/>
              <a:t> </a:t>
            </a:r>
            <a:r>
              <a:rPr lang="en-US" sz="2200" dirty="0"/>
              <a:t>Sistema </a:t>
            </a:r>
            <a:r>
              <a:rPr lang="en-US" sz="2200" dirty="0" err="1"/>
              <a:t>coherente</a:t>
            </a:r>
            <a:r>
              <a:rPr lang="en-US" sz="22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F177DB3-AC61-EE52-84B4-A00E4D9F619A}"/>
              </a:ext>
            </a:extLst>
          </p:cNvPr>
          <p:cNvSpPr txBox="1"/>
          <p:nvPr/>
        </p:nvSpPr>
        <p:spPr>
          <a:xfrm>
            <a:off x="6667193" y="2407435"/>
            <a:ext cx="5107864" cy="3842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marR="0" lvl="0" indent="-9144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CB45B5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Transparencia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respecto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 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diferentes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ámbitos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:</a:t>
            </a:r>
          </a:p>
          <a:p>
            <a:pPr marL="548640" lvl="1" indent="-91440" algn="just">
              <a:spcBef>
                <a:spcPts val="1200"/>
              </a:spcBef>
              <a:spcAft>
                <a:spcPts val="200"/>
              </a:spcAft>
              <a:buClr>
                <a:srgbClr val="CB45B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Tw Cen MT" panose="020F0502020204030204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Acceso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.</a:t>
            </a:r>
          </a:p>
          <a:p>
            <a:pPr marL="548640" lvl="1" indent="-91440" algn="just">
              <a:spcBef>
                <a:spcPts val="1200"/>
              </a:spcBef>
              <a:spcAft>
                <a:spcPts val="200"/>
              </a:spcAft>
              <a:buClr>
                <a:srgbClr val="CB45B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Ubicación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.</a:t>
            </a:r>
          </a:p>
          <a:p>
            <a:pPr marL="548640" lvl="1" indent="-91440" algn="just">
              <a:spcBef>
                <a:spcPts val="1200"/>
              </a:spcBef>
              <a:spcAft>
                <a:spcPts val="200"/>
              </a:spcAft>
              <a:buClr>
                <a:srgbClr val="CB45B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Migración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.</a:t>
            </a:r>
          </a:p>
          <a:p>
            <a:pPr marL="548640" lvl="1" indent="-91440" algn="just">
              <a:spcBef>
                <a:spcPts val="1200"/>
              </a:spcBef>
              <a:spcAft>
                <a:spcPts val="200"/>
              </a:spcAft>
              <a:buClr>
                <a:srgbClr val="CB45B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 Re-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localización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.</a:t>
            </a:r>
            <a:endParaRPr lang="en-US" sz="2000" dirty="0">
              <a:solidFill>
                <a:srgbClr val="000000">
                  <a:lumMod val="75000"/>
                  <a:lumOff val="25000"/>
                </a:srgbClr>
              </a:solidFill>
              <a:latin typeface="Tw Cen MT" panose="020F0502020204030204"/>
            </a:endParaRPr>
          </a:p>
          <a:p>
            <a:pPr marL="548640" lvl="1" indent="-91440" algn="just">
              <a:spcBef>
                <a:spcPts val="1200"/>
              </a:spcBef>
              <a:spcAft>
                <a:spcPts val="200"/>
              </a:spcAft>
              <a:buClr>
                <a:srgbClr val="CB45B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Replicación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.</a:t>
            </a:r>
            <a:endParaRPr lang="en-US" sz="2000" dirty="0">
              <a:solidFill>
                <a:srgbClr val="000000">
                  <a:lumMod val="75000"/>
                  <a:lumOff val="25000"/>
                </a:srgbClr>
              </a:solidFill>
              <a:latin typeface="Tw Cen MT" panose="020F0502020204030204"/>
            </a:endParaRPr>
          </a:p>
          <a:p>
            <a:pPr marL="548640" lvl="1" indent="-91440" algn="just">
              <a:spcBef>
                <a:spcPts val="1200"/>
              </a:spcBef>
              <a:spcAft>
                <a:spcPts val="200"/>
              </a:spcAft>
              <a:buClr>
                <a:srgbClr val="CB45B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Concurrencia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.</a:t>
            </a:r>
            <a:endParaRPr lang="en-US" sz="2000" dirty="0">
              <a:solidFill>
                <a:srgbClr val="000000">
                  <a:lumMod val="75000"/>
                  <a:lumOff val="25000"/>
                </a:srgbClr>
              </a:solidFill>
              <a:latin typeface="Tw Cen MT" panose="020F0502020204030204"/>
            </a:endParaRPr>
          </a:p>
          <a:p>
            <a:pPr marL="548640" lvl="1" indent="-91440" algn="just">
              <a:spcBef>
                <a:spcPts val="1200"/>
              </a:spcBef>
              <a:spcAft>
                <a:spcPts val="200"/>
              </a:spcAft>
              <a:buClr>
                <a:srgbClr val="CB45B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</a:rPr>
              <a:t> Falla.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62391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E39B1-9C4E-F549-5499-94B884AD7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3098">
            <a:extLst>
              <a:ext uri="{FF2B5EF4-FFF2-40B4-BE49-F238E27FC236}">
                <a16:creationId xmlns:a16="http://schemas.microsoft.com/office/drawing/2014/main" id="{CC3D9340-F4A0-05D1-75CE-700AFA0AD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cxnSp>
        <p:nvCxnSpPr>
          <p:cNvPr id="3114" name="Straight Connector 3100">
            <a:extLst>
              <a:ext uri="{FF2B5EF4-FFF2-40B4-BE49-F238E27FC236}">
                <a16:creationId xmlns:a16="http://schemas.microsoft.com/office/drawing/2014/main" id="{66EF9075-FF06-0985-BC03-0648AEB86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15" name="Rectangle 3102">
            <a:extLst>
              <a:ext uri="{FF2B5EF4-FFF2-40B4-BE49-F238E27FC236}">
                <a16:creationId xmlns:a16="http://schemas.microsoft.com/office/drawing/2014/main" id="{A67E8243-982D-7591-997C-8400A88D1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6" name="Rectangle 3104">
            <a:extLst>
              <a:ext uri="{FF2B5EF4-FFF2-40B4-BE49-F238E27FC236}">
                <a16:creationId xmlns:a16="http://schemas.microsoft.com/office/drawing/2014/main" id="{60B36DEC-13A4-C876-76D2-A5B572D07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2265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117" name="Rectangle 3106">
            <a:extLst>
              <a:ext uri="{FF2B5EF4-FFF2-40B4-BE49-F238E27FC236}">
                <a16:creationId xmlns:a16="http://schemas.microsoft.com/office/drawing/2014/main" id="{D6FE5B53-BEA4-E65D-7EDA-7FED7684C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EE3973-07FE-B18D-1F65-AC47BA1FC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354227"/>
            <a:ext cx="10909073" cy="101485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solidFill>
                  <a:schemeClr val="bg1"/>
                </a:solidFill>
              </a:rPr>
              <a:t>3) Ser </a:t>
            </a:r>
            <a:r>
              <a:rPr lang="en-US" sz="6000" dirty="0" err="1">
                <a:solidFill>
                  <a:schemeClr val="bg1"/>
                </a:solidFill>
              </a:rPr>
              <a:t>abierto</a:t>
            </a:r>
            <a:endParaRPr lang="en-US" sz="6000" noProof="0" dirty="0">
              <a:solidFill>
                <a:schemeClr val="bg1"/>
              </a:solidFill>
            </a:endParaRPr>
          </a:p>
        </p:txBody>
      </p:sp>
      <p:cxnSp>
        <p:nvCxnSpPr>
          <p:cNvPr id="3118" name="Straight Connector 3108">
            <a:extLst>
              <a:ext uri="{FF2B5EF4-FFF2-40B4-BE49-F238E27FC236}">
                <a16:creationId xmlns:a16="http://schemas.microsoft.com/office/drawing/2014/main" id="{0376901C-2181-E527-468E-FAF53CC00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6942" y="1466833"/>
            <a:ext cx="105156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9" name="Rectangle 3110">
            <a:extLst>
              <a:ext uri="{FF2B5EF4-FFF2-40B4-BE49-F238E27FC236}">
                <a16:creationId xmlns:a16="http://schemas.microsoft.com/office/drawing/2014/main" id="{76874F7B-E03C-3CDB-4CAB-42BE2852A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E5D909E6-FD4C-AEE3-0823-0B1DADE83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5"/>
            <a:ext cx="5453739" cy="382083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000" dirty="0"/>
              <a:t> </a:t>
            </a:r>
            <a:r>
              <a:rPr lang="es-ES" sz="2000" dirty="0"/>
              <a:t>Sistema distribuido abierto es aquel que ofrece servicios bajo reglas estándar (sintaxis, semántica).</a:t>
            </a:r>
            <a:endParaRPr lang="es-CL" sz="2000" dirty="0"/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 Interface </a:t>
            </a:r>
            <a:r>
              <a:rPr lang="es-ES" sz="2000" dirty="0" err="1"/>
              <a:t>Definition</a:t>
            </a:r>
            <a:r>
              <a:rPr lang="es-ES" sz="2000" dirty="0"/>
              <a:t> </a:t>
            </a:r>
            <a:r>
              <a:rPr lang="es-ES" sz="2000" dirty="0" err="1"/>
              <a:t>Language</a:t>
            </a:r>
            <a:r>
              <a:rPr lang="es-ES" sz="2000" dirty="0"/>
              <a:t> (IDL), lenguaje de especificación de componentes del sistema, como, por ejemplo: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Advanced Programming Interface (API).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Llamadas</a:t>
            </a:r>
            <a:r>
              <a:rPr lang="en-US" sz="2000" dirty="0"/>
              <a:t> a </a:t>
            </a:r>
            <a:r>
              <a:rPr lang="en-US" sz="2000" dirty="0" err="1"/>
              <a:t>procedimientos</a:t>
            </a:r>
            <a:r>
              <a:rPr lang="en-US" sz="2000" dirty="0"/>
              <a:t> </a:t>
            </a:r>
            <a:r>
              <a:rPr lang="en-US" sz="2000" dirty="0" err="1"/>
              <a:t>remotos</a:t>
            </a:r>
            <a:r>
              <a:rPr lang="en-US" sz="2000" dirty="0"/>
              <a:t> (RPC).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000" dirty="0"/>
              <a:t> </a:t>
            </a:r>
            <a:r>
              <a:rPr lang="es-ES" sz="2000" dirty="0"/>
              <a:t>Interoperabilidad: permite que procesos se comuniquen y generen implementaciones diferentes.</a:t>
            </a:r>
            <a:endParaRPr lang="es-ES" sz="2400" dirty="0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F4D6B3F4-F53C-D11B-EDC8-333D5689BE17}"/>
              </a:ext>
            </a:extLst>
          </p:cNvPr>
          <p:cNvSpPr txBox="1">
            <a:spLocks/>
          </p:cNvSpPr>
          <p:nvPr/>
        </p:nvSpPr>
        <p:spPr>
          <a:xfrm>
            <a:off x="6417129" y="2407434"/>
            <a:ext cx="5453739" cy="382083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000" dirty="0"/>
              <a:t> </a:t>
            </a:r>
            <a:r>
              <a:rPr lang="es-ES" sz="2000" dirty="0"/>
              <a:t>Portabilidad: extensiones pueden ser usadas en otros sistemas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 Fácil extensión: agregar más componentes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En la práctica, muchos sistemas son monolíticos (cerrados).</a:t>
            </a:r>
            <a:endParaRPr lang="es-ES" sz="24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C158D07-54C8-9AD5-4FE3-ED6B9B150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860" y="4474741"/>
            <a:ext cx="4733719" cy="174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4DD4D6-935D-EDB2-317B-9750DE86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3098">
            <a:extLst>
              <a:ext uri="{FF2B5EF4-FFF2-40B4-BE49-F238E27FC236}">
                <a16:creationId xmlns:a16="http://schemas.microsoft.com/office/drawing/2014/main" id="{C19699B2-C049-D775-1482-E35D494EC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cxnSp>
        <p:nvCxnSpPr>
          <p:cNvPr id="3114" name="Straight Connector 3100">
            <a:extLst>
              <a:ext uri="{FF2B5EF4-FFF2-40B4-BE49-F238E27FC236}">
                <a16:creationId xmlns:a16="http://schemas.microsoft.com/office/drawing/2014/main" id="{BB641F13-B048-FA26-8320-B2138FB04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15" name="Rectangle 3102">
            <a:extLst>
              <a:ext uri="{FF2B5EF4-FFF2-40B4-BE49-F238E27FC236}">
                <a16:creationId xmlns:a16="http://schemas.microsoft.com/office/drawing/2014/main" id="{AD091985-B0E5-76B2-9377-A8048727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6" name="Rectangle 3104">
            <a:extLst>
              <a:ext uri="{FF2B5EF4-FFF2-40B4-BE49-F238E27FC236}">
                <a16:creationId xmlns:a16="http://schemas.microsoft.com/office/drawing/2014/main" id="{E72B55FD-177A-405E-95DD-D3B1DE14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2265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117" name="Rectangle 3106">
            <a:extLst>
              <a:ext uri="{FF2B5EF4-FFF2-40B4-BE49-F238E27FC236}">
                <a16:creationId xmlns:a16="http://schemas.microsoft.com/office/drawing/2014/main" id="{FDAEAEAB-077A-C0FF-5EEC-135A7AA2E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1FB883-4B36-DFDF-3F1B-CC7AFB66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354227"/>
            <a:ext cx="10909073" cy="101485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noProof="0" dirty="0">
                <a:solidFill>
                  <a:schemeClr val="bg1"/>
                </a:solidFill>
              </a:rPr>
              <a:t>4) </a:t>
            </a:r>
            <a:r>
              <a:rPr lang="en-US" sz="6000" noProof="0" dirty="0" err="1">
                <a:solidFill>
                  <a:schemeClr val="bg1"/>
                </a:solidFill>
              </a:rPr>
              <a:t>Escalabilidad</a:t>
            </a:r>
            <a:endParaRPr lang="en-US" sz="6000" noProof="0" dirty="0">
              <a:solidFill>
                <a:schemeClr val="bg1"/>
              </a:solidFill>
            </a:endParaRPr>
          </a:p>
        </p:txBody>
      </p:sp>
      <p:cxnSp>
        <p:nvCxnSpPr>
          <p:cNvPr id="3118" name="Straight Connector 3108">
            <a:extLst>
              <a:ext uri="{FF2B5EF4-FFF2-40B4-BE49-F238E27FC236}">
                <a16:creationId xmlns:a16="http://schemas.microsoft.com/office/drawing/2014/main" id="{C94A32CA-8557-87A4-3CDD-0F38DBF5C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6942" y="1466833"/>
            <a:ext cx="105156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9" name="Rectangle 3110">
            <a:extLst>
              <a:ext uri="{FF2B5EF4-FFF2-40B4-BE49-F238E27FC236}">
                <a16:creationId xmlns:a16="http://schemas.microsoft.com/office/drawing/2014/main" id="{CD71F513-6BF7-7869-7CD6-745673E62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E818DDEF-1C91-7C4D-ED97-9372FC15C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5"/>
            <a:ext cx="5453739" cy="382083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CL" sz="2200" dirty="0"/>
              <a:t>Existen 2 tipos: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CL" sz="2200" dirty="0"/>
              <a:t> </a:t>
            </a:r>
            <a:r>
              <a:rPr lang="en-US" sz="2200" dirty="0" err="1"/>
              <a:t>Escalabilidad</a:t>
            </a:r>
            <a:r>
              <a:rPr lang="en-US" sz="2200" dirty="0"/>
              <a:t> Horizontal (scaling out): </a:t>
            </a:r>
            <a:r>
              <a:rPr lang="es-ES" sz="2200" dirty="0"/>
              <a:t>Aumentar la cantidad de los recursos.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Agregar más nodos de trabajo. 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200" dirty="0"/>
              <a:t>Front-</a:t>
            </a:r>
            <a:r>
              <a:rPr lang="es-ES" sz="2200" dirty="0" err="1"/>
              <a:t>End</a:t>
            </a:r>
            <a:r>
              <a:rPr lang="es-ES" sz="2200" dirty="0"/>
              <a:t> sin estado -&gt; lo que haya pasado antes no influye en las próximas decisiones. 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Backend con </a:t>
            </a:r>
            <a:r>
              <a:rPr lang="en-US" sz="2200" dirty="0" err="1"/>
              <a:t>particionamiento</a:t>
            </a:r>
            <a:r>
              <a:rPr lang="en-US" sz="2200" dirty="0"/>
              <a:t>, </a:t>
            </a:r>
            <a:r>
              <a:rPr lang="en-US" sz="2200" dirty="0" err="1"/>
              <a:t>modelo</a:t>
            </a:r>
            <a:r>
              <a:rPr lang="en-US" sz="2200" dirty="0"/>
              <a:t> master/slave.</a:t>
            </a:r>
            <a:endParaRPr lang="es-ES" sz="2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3D3679C-9576-D3BF-B143-49EC825A3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617" y="3226453"/>
            <a:ext cx="5139858" cy="21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98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CAA30C-26B6-7790-2782-832CEE768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3098">
            <a:extLst>
              <a:ext uri="{FF2B5EF4-FFF2-40B4-BE49-F238E27FC236}">
                <a16:creationId xmlns:a16="http://schemas.microsoft.com/office/drawing/2014/main" id="{41F2FE17-2FD1-03D3-247E-3E60CB341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cxnSp>
        <p:nvCxnSpPr>
          <p:cNvPr id="3114" name="Straight Connector 3100">
            <a:extLst>
              <a:ext uri="{FF2B5EF4-FFF2-40B4-BE49-F238E27FC236}">
                <a16:creationId xmlns:a16="http://schemas.microsoft.com/office/drawing/2014/main" id="{7589660E-45DE-309E-93C2-FBBFC95FF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15" name="Rectangle 3102">
            <a:extLst>
              <a:ext uri="{FF2B5EF4-FFF2-40B4-BE49-F238E27FC236}">
                <a16:creationId xmlns:a16="http://schemas.microsoft.com/office/drawing/2014/main" id="{00E7F03A-A737-DACE-4C66-5C8B0CC08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6" name="Rectangle 3104">
            <a:extLst>
              <a:ext uri="{FF2B5EF4-FFF2-40B4-BE49-F238E27FC236}">
                <a16:creationId xmlns:a16="http://schemas.microsoft.com/office/drawing/2014/main" id="{A7EC25BF-DEDF-EE02-B234-2D2C654C5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2265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117" name="Rectangle 3106">
            <a:extLst>
              <a:ext uri="{FF2B5EF4-FFF2-40B4-BE49-F238E27FC236}">
                <a16:creationId xmlns:a16="http://schemas.microsoft.com/office/drawing/2014/main" id="{14097B7A-9FAC-101B-8712-1132D7CA0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4D843F-E2F6-AE7A-2464-8A917E4AE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354227"/>
            <a:ext cx="10909073" cy="101485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noProof="0" dirty="0">
                <a:solidFill>
                  <a:schemeClr val="bg1"/>
                </a:solidFill>
              </a:rPr>
              <a:t>4) </a:t>
            </a:r>
            <a:r>
              <a:rPr lang="en-US" sz="6000" noProof="0" dirty="0" err="1">
                <a:solidFill>
                  <a:schemeClr val="bg1"/>
                </a:solidFill>
              </a:rPr>
              <a:t>Escalabilidad</a:t>
            </a:r>
            <a:endParaRPr lang="en-US" sz="6000" noProof="0" dirty="0">
              <a:solidFill>
                <a:schemeClr val="bg1"/>
              </a:solidFill>
            </a:endParaRPr>
          </a:p>
        </p:txBody>
      </p:sp>
      <p:cxnSp>
        <p:nvCxnSpPr>
          <p:cNvPr id="3118" name="Straight Connector 3108">
            <a:extLst>
              <a:ext uri="{FF2B5EF4-FFF2-40B4-BE49-F238E27FC236}">
                <a16:creationId xmlns:a16="http://schemas.microsoft.com/office/drawing/2014/main" id="{1983466A-D1E5-67F9-8AEB-E1722C439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6942" y="1466833"/>
            <a:ext cx="105156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9" name="Rectangle 3110">
            <a:extLst>
              <a:ext uri="{FF2B5EF4-FFF2-40B4-BE49-F238E27FC236}">
                <a16:creationId xmlns:a16="http://schemas.microsoft.com/office/drawing/2014/main" id="{51E5328A-5295-94E8-225A-E1D788ABA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E78272AA-37BC-1127-8788-73ACD20EA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5"/>
            <a:ext cx="5453739" cy="382083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 </a:t>
            </a:r>
            <a:r>
              <a:rPr lang="es-ES" sz="2200" dirty="0"/>
              <a:t>Escalabilidad Vertical (</a:t>
            </a:r>
            <a:r>
              <a:rPr lang="es-ES" sz="2200" dirty="0" err="1"/>
              <a:t>scaling</a:t>
            </a:r>
            <a:r>
              <a:rPr lang="es-ES" sz="2200" dirty="0"/>
              <a:t> up): Aumentar las capacidades de mi recurso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Agregar</a:t>
            </a:r>
            <a:r>
              <a:rPr lang="en-US" sz="2200" dirty="0"/>
              <a:t> CPU, Memoria, disco. 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200" dirty="0"/>
              <a:t>Manejar simultáneo de más conexiones, operaciones, usuarios.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200" dirty="0"/>
              <a:t>Buen I/O y modelos de concurrencia (hebras, asincronismo, etc...).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968EA70-201C-F031-F4C6-6983E9564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868" y="2768541"/>
            <a:ext cx="5536428" cy="284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17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60C96-81B9-2248-B189-70C1E0275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3098">
            <a:extLst>
              <a:ext uri="{FF2B5EF4-FFF2-40B4-BE49-F238E27FC236}">
                <a16:creationId xmlns:a16="http://schemas.microsoft.com/office/drawing/2014/main" id="{AE509BD2-0E8A-14B7-3D7C-E90464C29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cxnSp>
        <p:nvCxnSpPr>
          <p:cNvPr id="3114" name="Straight Connector 3100">
            <a:extLst>
              <a:ext uri="{FF2B5EF4-FFF2-40B4-BE49-F238E27FC236}">
                <a16:creationId xmlns:a16="http://schemas.microsoft.com/office/drawing/2014/main" id="{B4294AE8-763B-0C64-0D55-900255BA4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15" name="Rectangle 3102">
            <a:extLst>
              <a:ext uri="{FF2B5EF4-FFF2-40B4-BE49-F238E27FC236}">
                <a16:creationId xmlns:a16="http://schemas.microsoft.com/office/drawing/2014/main" id="{6FEC9966-F28C-6D83-D29C-6CA24A0A3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6" name="Rectangle 3104">
            <a:extLst>
              <a:ext uri="{FF2B5EF4-FFF2-40B4-BE49-F238E27FC236}">
                <a16:creationId xmlns:a16="http://schemas.microsoft.com/office/drawing/2014/main" id="{8E4B91C7-A13A-6E3A-CC24-1FAEC0B41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2265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117" name="Rectangle 3106">
            <a:extLst>
              <a:ext uri="{FF2B5EF4-FFF2-40B4-BE49-F238E27FC236}">
                <a16:creationId xmlns:a16="http://schemas.microsoft.com/office/drawing/2014/main" id="{BAAB7D19-5ECD-7069-403F-33593F9E4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58B23A-2C78-1F8D-7238-EE105528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354227"/>
            <a:ext cx="10909073" cy="101485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noProof="0" dirty="0">
                <a:solidFill>
                  <a:schemeClr val="bg1"/>
                </a:solidFill>
              </a:rPr>
              <a:t>4) </a:t>
            </a:r>
            <a:r>
              <a:rPr lang="en-US" sz="6000" noProof="0" dirty="0" err="1">
                <a:solidFill>
                  <a:schemeClr val="bg1"/>
                </a:solidFill>
              </a:rPr>
              <a:t>Escalabilidad</a:t>
            </a:r>
            <a:endParaRPr lang="en-US" sz="6000" noProof="0" dirty="0">
              <a:solidFill>
                <a:schemeClr val="bg1"/>
              </a:solidFill>
            </a:endParaRPr>
          </a:p>
        </p:txBody>
      </p:sp>
      <p:cxnSp>
        <p:nvCxnSpPr>
          <p:cNvPr id="3118" name="Straight Connector 3108">
            <a:extLst>
              <a:ext uri="{FF2B5EF4-FFF2-40B4-BE49-F238E27FC236}">
                <a16:creationId xmlns:a16="http://schemas.microsoft.com/office/drawing/2014/main" id="{10767F96-3AC1-90FA-6C7E-6F1194A72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6942" y="1466833"/>
            <a:ext cx="105156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9" name="Rectangle 3110">
            <a:extLst>
              <a:ext uri="{FF2B5EF4-FFF2-40B4-BE49-F238E27FC236}">
                <a16:creationId xmlns:a16="http://schemas.microsoft.com/office/drawing/2014/main" id="{9E1DCBFC-7AD2-C034-4653-C05377346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1CC48DAE-977B-0AE7-BFD5-B63513900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5"/>
            <a:ext cx="5453739" cy="382083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 </a:t>
            </a:r>
            <a:r>
              <a:rPr lang="es-CL" sz="2200" dirty="0"/>
              <a:t>Existen 3 técnicas básicas para escalar:</a:t>
            </a:r>
          </a:p>
          <a:p>
            <a:pPr marL="715518" lvl="1" indent="-514350" algn="just">
              <a:lnSpc>
                <a:spcPct val="100000"/>
              </a:lnSpc>
              <a:buFont typeface="+mj-lt"/>
              <a:buAutoNum type="romanUcPeriod"/>
            </a:pPr>
            <a:r>
              <a:rPr lang="es-ES" sz="2000" b="1" dirty="0"/>
              <a:t>Particionar y distribuir: </a:t>
            </a:r>
            <a:r>
              <a:rPr lang="es-ES" sz="2000" dirty="0"/>
              <a:t>dividir un componente y distribuirlo, el cuál puede tener 2 variaciones: </a:t>
            </a:r>
          </a:p>
          <a:p>
            <a:pPr marL="898398" lvl="2" indent="-514350" algn="just">
              <a:lnSpc>
                <a:spcPct val="100000"/>
              </a:lnSpc>
              <a:buFont typeface="+mj-lt"/>
              <a:buAutoNum type="alphaLcPeriod"/>
            </a:pPr>
            <a:r>
              <a:rPr lang="es-ES" sz="1500" b="1" dirty="0"/>
              <a:t>Particionamiento Vertical</a:t>
            </a:r>
          </a:p>
          <a:p>
            <a:pPr marL="898398" lvl="2" indent="-514350" algn="just">
              <a:lnSpc>
                <a:spcPct val="100000"/>
              </a:lnSpc>
              <a:buFont typeface="+mj-lt"/>
              <a:buAutoNum type="alphaLcPeriod"/>
            </a:pPr>
            <a:r>
              <a:rPr lang="es-ES" sz="1500" b="1" dirty="0"/>
              <a:t>Particionamiento Horizontal (</a:t>
            </a:r>
            <a:r>
              <a:rPr lang="es-ES" sz="1500" b="1" dirty="0" err="1"/>
              <a:t>Sharding</a:t>
            </a:r>
            <a:r>
              <a:rPr lang="es-ES" sz="1500" b="1" dirty="0"/>
              <a:t>)</a:t>
            </a:r>
          </a:p>
          <a:p>
            <a:pPr marL="715518" lvl="1" indent="-514350" algn="just">
              <a:lnSpc>
                <a:spcPct val="100000"/>
              </a:lnSpc>
              <a:buFont typeface="+mj-lt"/>
              <a:buAutoNum type="romanUcPeriod"/>
            </a:pPr>
            <a:r>
              <a:rPr lang="es-ES" sz="2000" b="1" dirty="0"/>
              <a:t>Replicar: </a:t>
            </a:r>
            <a:r>
              <a:rPr lang="es-ES" sz="2000" dirty="0"/>
              <a:t>hacer copiar de los recursos en diferentes lugares.</a:t>
            </a:r>
          </a:p>
          <a:p>
            <a:pPr marL="715518" lvl="1" indent="-514350" algn="just">
              <a:lnSpc>
                <a:spcPct val="100000"/>
              </a:lnSpc>
              <a:buFont typeface="+mj-lt"/>
              <a:buAutoNum type="romanUcPeriod"/>
            </a:pPr>
            <a:r>
              <a:rPr lang="es-ES" sz="2000" b="1" dirty="0"/>
              <a:t>Cache: </a:t>
            </a:r>
            <a:r>
              <a:rPr lang="es-ES" sz="2000" dirty="0"/>
              <a:t>subconjunto de recursos de acceso fácil y rápido.</a:t>
            </a:r>
            <a:endParaRPr lang="es-ES" sz="20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07BCD3-8C5B-2595-E624-DDFF32D99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3" y="2681383"/>
            <a:ext cx="554355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40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6" name="Rectangle 5135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10FF32-896A-33A9-6358-A4136F64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783" y="516835"/>
            <a:ext cx="5977937" cy="1666501"/>
          </a:xfrm>
        </p:spPr>
        <p:txBody>
          <a:bodyPr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</a:rPr>
              <a:t>Link </a:t>
            </a:r>
            <a:r>
              <a:rPr lang="es-CL" sz="4000" noProof="0" dirty="0" err="1">
                <a:solidFill>
                  <a:srgbClr val="FFFFFF"/>
                </a:solidFill>
              </a:rPr>
              <a:t>Github</a:t>
            </a:r>
            <a:endParaRPr lang="es-CL" sz="4000" noProof="0" dirty="0">
              <a:solidFill>
                <a:srgbClr val="FFFFFF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2B0C51-72EC-481A-48CD-61DEE0A79C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176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5138" name="Straight Connector 5137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00864" y="2353592"/>
            <a:ext cx="5669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0D78B-5722-8E64-0449-803CEC35D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784" y="2546224"/>
            <a:ext cx="5977938" cy="3342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800" noProof="0" dirty="0">
                <a:solidFill>
                  <a:srgbClr val="FFFFFF"/>
                </a:solidFill>
              </a:rPr>
              <a:t>Repositorio: </a:t>
            </a:r>
          </a:p>
          <a:p>
            <a:pPr marL="0" indent="0">
              <a:buNone/>
            </a:pPr>
            <a:r>
              <a:rPr lang="es-CL" sz="1800" dirty="0">
                <a:solidFill>
                  <a:srgbClr val="FFFFFF"/>
                </a:solidFill>
                <a:hlinkClick r:id="rId3"/>
              </a:rPr>
              <a:t>https://github.com/VicenteDiazH/AY-SD2026-1-S3</a:t>
            </a:r>
            <a:endParaRPr lang="es-CL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s-CL" sz="1800" noProof="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s-CL" sz="1800" noProof="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s-CL" sz="1800" noProof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032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1B2430"/>
      </a:dk2>
      <a:lt2>
        <a:srgbClr val="F0F3F1"/>
      </a:lt2>
      <a:accent1>
        <a:srgbClr val="CB45B5"/>
      </a:accent1>
      <a:accent2>
        <a:srgbClr val="9833B9"/>
      </a:accent2>
      <a:accent3>
        <a:srgbClr val="7145CB"/>
      </a:accent3>
      <a:accent4>
        <a:srgbClr val="3843BB"/>
      </a:accent4>
      <a:accent5>
        <a:srgbClr val="4588CB"/>
      </a:accent5>
      <a:accent6>
        <a:srgbClr val="33AEB9"/>
      </a:accent6>
      <a:hlink>
        <a:srgbClr val="3F6ABF"/>
      </a:hlink>
      <a:folHlink>
        <a:srgbClr val="7F7F7F"/>
      </a:folHlink>
    </a:clrScheme>
    <a:fontScheme name="Retrospect">
      <a:majorFont>
        <a:latin typeface="Tw Cen M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577</Words>
  <Application>Microsoft Office PowerPoint</Application>
  <PresentationFormat>Panorámica</PresentationFormat>
  <Paragraphs>86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Tw Cen MT</vt:lpstr>
      <vt:lpstr>Wingdings</vt:lpstr>
      <vt:lpstr>RetrospectVTI</vt:lpstr>
      <vt:lpstr>Ayudantía 1</vt:lpstr>
      <vt:lpstr>Contacto</vt:lpstr>
      <vt:lpstr>¿Qué son los sistemas distribuidos?</vt:lpstr>
      <vt:lpstr>¿Porqué y cuándo distribuir?</vt:lpstr>
      <vt:lpstr>Objetivos de diseño</vt:lpstr>
      <vt:lpstr>1) Poner recursos a disposición.</vt:lpstr>
      <vt:lpstr>2) Hacer transparente la distribución.</vt:lpstr>
      <vt:lpstr>3) Ser abierto</vt:lpstr>
      <vt:lpstr>4) Escalabilidad</vt:lpstr>
      <vt:lpstr>4) Escalabilidad</vt:lpstr>
      <vt:lpstr>4) Escalabilidad</vt:lpstr>
      <vt:lpstr>Link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Ayudantía 1</dc:title>
  <dc:creator>211330716</dc:creator>
  <cp:lastModifiedBy>211330716</cp:lastModifiedBy>
  <cp:revision>20</cp:revision>
  <dcterms:created xsi:type="dcterms:W3CDTF">2024-03-19T23:19:18Z</dcterms:created>
  <dcterms:modified xsi:type="dcterms:W3CDTF">2026-03-18T05:02:33Z</dcterms:modified>
</cp:coreProperties>
</file>