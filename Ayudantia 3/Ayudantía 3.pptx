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0" r:id="rId3"/>
    <p:sldId id="257" r:id="rId4"/>
    <p:sldId id="264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4" autoAdjust="0"/>
    <p:restoredTop sz="94660"/>
  </p:normalViewPr>
  <p:slideViewPr>
    <p:cSldViewPr snapToGrid="0">
      <p:cViewPr>
        <p:scale>
          <a:sx n="115" d="100"/>
          <a:sy n="115" d="100"/>
        </p:scale>
        <p:origin x="53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2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4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7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3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4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centeDiazH/AY-SD2026-1-S3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6C2A261-D372-1A97-14E8-B22E0849E3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3380" b="203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1D894A-009B-3EEB-B491-C2CE2E6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836343"/>
            <a:ext cx="10058400" cy="3566160"/>
          </a:xfrm>
        </p:spPr>
        <p:txBody>
          <a:bodyPr>
            <a:normAutofit/>
          </a:bodyPr>
          <a:lstStyle/>
          <a:p>
            <a:r>
              <a:rPr lang="es-CL" noProof="0" dirty="0">
                <a:solidFill>
                  <a:srgbClr val="FFFFFF"/>
                </a:solidFill>
              </a:rPr>
              <a:t>Ayudantía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66C05-16FC-01FE-77E8-1D4E30CE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1"/>
            <a:ext cx="10058400" cy="1683410"/>
          </a:xfrm>
        </p:spPr>
        <p:txBody>
          <a:bodyPr>
            <a:normAutofit fontScale="70000" lnSpcReduction="20000"/>
          </a:bodyPr>
          <a:lstStyle/>
          <a:p>
            <a:r>
              <a:rPr lang="es-CL" dirty="0" err="1">
                <a:solidFill>
                  <a:srgbClr val="FFFFFF"/>
                </a:solidFill>
              </a:rPr>
              <a:t>SistemAS</a:t>
            </a:r>
            <a:r>
              <a:rPr lang="es-CL" dirty="0">
                <a:solidFill>
                  <a:srgbClr val="FFFFFF"/>
                </a:solidFill>
              </a:rPr>
              <a:t> </a:t>
            </a:r>
            <a:r>
              <a:rPr lang="es-CL" dirty="0" err="1">
                <a:solidFill>
                  <a:srgbClr val="FFFFFF"/>
                </a:solidFill>
              </a:rPr>
              <a:t>dISTRIBUIDOS</a:t>
            </a:r>
            <a:endParaRPr lang="es-CL" noProof="0" dirty="0">
              <a:solidFill>
                <a:srgbClr val="FFFFFF"/>
              </a:solidFill>
            </a:endParaRPr>
          </a:p>
          <a:p>
            <a:r>
              <a:rPr lang="es-CL" noProof="0" dirty="0">
                <a:solidFill>
                  <a:srgbClr val="FFFFFF"/>
                </a:solidFill>
              </a:rPr>
              <a:t>Profesor: Nicolas Hidalgo</a:t>
            </a:r>
          </a:p>
          <a:p>
            <a:r>
              <a:rPr lang="es-CL" noProof="0" dirty="0">
                <a:solidFill>
                  <a:srgbClr val="FFFFFF"/>
                </a:solidFill>
              </a:rPr>
              <a:t>Ayudante Cátedra: </a:t>
            </a:r>
            <a:r>
              <a:rPr lang="es-CL" dirty="0">
                <a:solidFill>
                  <a:srgbClr val="FFFFFF"/>
                </a:solidFill>
              </a:rPr>
              <a:t>Vicente Díaz, Joaquín Villegas</a:t>
            </a:r>
          </a:p>
          <a:p>
            <a:r>
              <a:rPr lang="es-CL" dirty="0">
                <a:solidFill>
                  <a:srgbClr val="FFFFFF"/>
                </a:solidFill>
              </a:rPr>
              <a:t>Ayudante Corrector: Benjamín Aceituno, Isidora Gonzalez, Natalia ortega</a:t>
            </a:r>
            <a:endParaRPr lang="es-CL" noProof="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83BF985-5044-A9E2-FE48-75C0AAD42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-99568"/>
            <a:ext cx="3762375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895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4176361" cy="1666501"/>
          </a:xfrm>
        </p:spPr>
        <p:txBody>
          <a:bodyPr>
            <a:noAutofit/>
          </a:bodyPr>
          <a:lstStyle/>
          <a:p>
            <a:r>
              <a:rPr lang="es-CL" sz="8000" noProof="0" dirty="0">
                <a:solidFill>
                  <a:schemeClr val="tx1"/>
                </a:solidFill>
              </a:rPr>
              <a:t>Contacto</a:t>
            </a: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0" y="2523849"/>
            <a:ext cx="5876442" cy="4152996"/>
          </a:xfrm>
        </p:spPr>
        <p:txBody>
          <a:bodyPr>
            <a:normAutofit/>
          </a:bodyPr>
          <a:lstStyle/>
          <a:p>
            <a:r>
              <a:rPr lang="es-419" b="1" dirty="0"/>
              <a:t>Benjamín Aceituno</a:t>
            </a:r>
            <a:br>
              <a:rPr lang="es-419" dirty="0"/>
            </a:br>
            <a:r>
              <a:rPr lang="es-419" dirty="0"/>
              <a:t>benjamin.aceituno@mail.udp.cl</a:t>
            </a:r>
            <a:br>
              <a:rPr lang="es-419" dirty="0"/>
            </a:br>
            <a:r>
              <a:rPr lang="es-419" b="1" dirty="0"/>
              <a:t>Vicente Díaz</a:t>
            </a:r>
            <a:br>
              <a:rPr lang="es-419" dirty="0"/>
            </a:br>
            <a:r>
              <a:rPr lang="es-419" dirty="0"/>
              <a:t>Vicente.diaz5@mail.udp.cl</a:t>
            </a:r>
            <a:br>
              <a:rPr lang="es-419" dirty="0"/>
            </a:br>
            <a:r>
              <a:rPr lang="es-419" b="1" dirty="0"/>
              <a:t>Isidora González</a:t>
            </a:r>
            <a:br>
              <a:rPr lang="es-419" b="1" dirty="0"/>
            </a:br>
            <a:r>
              <a:rPr lang="es-419" dirty="0"/>
              <a:t>isidora.gonzalez4@mail.udp.cl</a:t>
            </a:r>
            <a:br>
              <a:rPr lang="es-419" b="1" dirty="0"/>
            </a:br>
            <a:r>
              <a:rPr lang="es-419" b="1" dirty="0"/>
              <a:t>Natalia Ortega</a:t>
            </a:r>
            <a:br>
              <a:rPr lang="es-419" b="1" dirty="0"/>
            </a:br>
            <a:r>
              <a:rPr lang="es-419" dirty="0"/>
              <a:t>natalia.ortega1@mail.udp.cl</a:t>
            </a:r>
            <a:br>
              <a:rPr lang="es-419" dirty="0"/>
            </a:br>
            <a:r>
              <a:rPr lang="es-419" b="1" dirty="0"/>
              <a:t>Joaquín Villegas</a:t>
            </a:r>
            <a:br>
              <a:rPr lang="es-419" b="1" dirty="0"/>
            </a:br>
            <a:r>
              <a:rPr lang="es-419" dirty="0"/>
              <a:t>joaquin.villegas@mail.udp.cl</a:t>
            </a:r>
          </a:p>
          <a:p>
            <a:pPr marL="0" indent="0">
              <a:buNone/>
            </a:pPr>
            <a:endParaRPr lang="es-CL" sz="4000" noProof="0" dirty="0">
              <a:solidFill>
                <a:schemeClr val="tx1"/>
              </a:solidFill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5FEAD962-4117-9D02-40EF-C09452EB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301" y="1626755"/>
            <a:ext cx="218122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3481590-EFD3-FBEB-862C-4DED842D2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220" y="294409"/>
            <a:ext cx="290512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3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56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4" name="Straight Connector 2058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553" y="2267421"/>
            <a:ext cx="4846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951199BC-B7DA-95FC-9E67-C8644239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9775" y="3965377"/>
            <a:ext cx="2249006" cy="160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Rectangle 2060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EB6E547-B5D2-DF1A-41A8-BCE5E013A1F3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Comunicación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EC26778-17C2-E436-BA10-56583B96A62C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7670FF6-289B-D0D0-D97F-1893A70B63AD}"/>
              </a:ext>
            </a:extLst>
          </p:cNvPr>
          <p:cNvSpPr/>
          <p:nvPr/>
        </p:nvSpPr>
        <p:spPr>
          <a:xfrm>
            <a:off x="527888" y="1752784"/>
            <a:ext cx="5928668" cy="3952403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24FDE57-FF57-3719-87AE-1BB275732BE0}"/>
              </a:ext>
            </a:extLst>
          </p:cNvPr>
          <p:cNvSpPr/>
          <p:nvPr/>
        </p:nvSpPr>
        <p:spPr>
          <a:xfrm>
            <a:off x="721553" y="1935378"/>
            <a:ext cx="5401676" cy="3638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Componente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clave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en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distribución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los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sistemas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w Cen MT" panose="020B0602020104020603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Envío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mensajes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través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de la 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2000" dirty="0">
              <a:solidFill>
                <a:schemeClr val="bg1"/>
              </a:solidFill>
              <a:latin typeface="Tw Cen MT" panose="020B0602020104020603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bg1"/>
                </a:solidFill>
                <a:latin typeface="Tw Cen MT" panose="020B0602020104020603" pitchFamily="34" charset="77"/>
              </a:rPr>
              <a:t>Problema: 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La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realiza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través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de internet,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sistemas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poco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seguros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saturados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, es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por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esto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que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la red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determina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como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diseña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arquitectura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latin typeface="Tw Cen MT" panose="020B0602020104020603" pitchFamily="34" charset="77"/>
              </a:rPr>
              <a:t>sistema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77"/>
              </a:rPr>
              <a:t>.</a:t>
            </a:r>
            <a:endParaRPr lang="es-CL" sz="2000" dirty="0"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775E3DA-3EB3-9C34-A014-3408C9882C4D}"/>
              </a:ext>
            </a:extLst>
          </p:cNvPr>
          <p:cNvSpPr/>
          <p:nvPr/>
        </p:nvSpPr>
        <p:spPr>
          <a:xfrm>
            <a:off x="6777031" y="2163136"/>
            <a:ext cx="430842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Capa de software entre el OS y las aplicaciones distribuidas</a:t>
            </a:r>
            <a:endParaRPr lang="en-US" sz="14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Ofrece servicios como llamadas remotas, mensajería e invocación de objetos</a:t>
            </a:r>
            <a:endParaRPr lang="en-US" sz="14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Abstrae los detalles de red (sockets, IP, TCP, UDP)</a:t>
            </a:r>
            <a:endParaRPr lang="en-US" sz="14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Ejemplos: sockets, RPC, RMI, pub/sub</a:t>
            </a:r>
            <a:endParaRPr lang="en-US" sz="1400" dirty="0">
              <a:latin typeface="Tw Cen MT" panose="020B06020201040206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2922F9-263E-2D56-9F2C-5695F68AF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09" y="1752784"/>
            <a:ext cx="5592337" cy="192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3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s-CL" sz="4000" noProof="0" dirty="0"/>
              <a:t>Fundamentos de la red</a:t>
            </a:r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8198B998-E030-EE2F-B453-22DE7B3798BE}"/>
              </a:ext>
            </a:extLst>
          </p:cNvPr>
          <p:cNvSpPr txBox="1">
            <a:spLocks/>
          </p:cNvSpPr>
          <p:nvPr/>
        </p:nvSpPr>
        <p:spPr>
          <a:xfrm>
            <a:off x="5671451" y="2071839"/>
            <a:ext cx="5990944" cy="4100504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L" sz="2200" b="1" dirty="0"/>
              <a:t>Performance: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Latencia</a:t>
            </a:r>
            <a:r>
              <a:rPr lang="en-US" dirty="0"/>
              <a:t> (</a:t>
            </a:r>
            <a:r>
              <a:rPr lang="en-US" dirty="0" err="1"/>
              <a:t>tL</a:t>
            </a:r>
            <a:r>
              <a:rPr lang="en-US" dirty="0"/>
              <a:t>): </a:t>
            </a:r>
            <a:r>
              <a:rPr lang="en-US" dirty="0" err="1"/>
              <a:t>tiempo</a:t>
            </a:r>
            <a:r>
              <a:rPr lang="en-US" dirty="0"/>
              <a:t> de </a:t>
            </a:r>
            <a:r>
              <a:rPr lang="en-US" dirty="0" err="1"/>
              <a:t>transmitir</a:t>
            </a:r>
            <a:r>
              <a:rPr lang="en-US" dirty="0"/>
              <a:t> un “</a:t>
            </a:r>
            <a:r>
              <a:rPr lang="en-US" dirty="0" err="1"/>
              <a:t>mensaje</a:t>
            </a:r>
            <a:r>
              <a:rPr lang="en-US" dirty="0"/>
              <a:t> </a:t>
            </a:r>
            <a:r>
              <a:rPr lang="en-US" dirty="0" err="1"/>
              <a:t>vacío</a:t>
            </a:r>
            <a:r>
              <a:rPr lang="en-US" dirty="0"/>
              <a:t>” (</a:t>
            </a:r>
            <a:r>
              <a:rPr lang="en-US" dirty="0" err="1"/>
              <a:t>afectada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: </a:t>
            </a:r>
            <a:r>
              <a:rPr lang="en-US" dirty="0" err="1"/>
              <a:t>sobrecarga</a:t>
            </a:r>
            <a:r>
              <a:rPr lang="en-US" dirty="0"/>
              <a:t> de software, </a:t>
            </a:r>
            <a:r>
              <a:rPr lang="en-US" dirty="0" err="1"/>
              <a:t>ruteo</a:t>
            </a:r>
            <a:r>
              <a:rPr lang="en-US" dirty="0"/>
              <a:t>, carga de </a:t>
            </a:r>
            <a:r>
              <a:rPr lang="en-US" dirty="0" err="1"/>
              <a:t>acceso</a:t>
            </a:r>
            <a:r>
              <a:rPr lang="en-US" dirty="0"/>
              <a:t> al canal).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/>
              <a:t> Tasa de </a:t>
            </a:r>
            <a:r>
              <a:rPr lang="en-US" dirty="0" err="1"/>
              <a:t>transferencia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 o BW): </a:t>
            </a:r>
            <a:r>
              <a:rPr lang="en-US" dirty="0" err="1"/>
              <a:t>velocidad</a:t>
            </a:r>
            <a:r>
              <a:rPr lang="en-US" dirty="0"/>
              <a:t> de </a:t>
            </a:r>
            <a:r>
              <a:rPr lang="en-US" dirty="0" err="1"/>
              <a:t>transmisión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(bit/seg) (</a:t>
            </a:r>
            <a:r>
              <a:rPr lang="en-US" dirty="0" err="1"/>
              <a:t>afectada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físicas</a:t>
            </a:r>
            <a:r>
              <a:rPr lang="en-US" dirty="0"/>
              <a:t> de la red).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/>
              <a:t> Tiempo para </a:t>
            </a:r>
            <a:r>
              <a:rPr lang="en-US" dirty="0" err="1"/>
              <a:t>transmitir</a:t>
            </a:r>
            <a:r>
              <a:rPr lang="en-US" dirty="0"/>
              <a:t> un </a:t>
            </a:r>
            <a:r>
              <a:rPr lang="en-US" dirty="0" err="1"/>
              <a:t>mensaje</a:t>
            </a:r>
            <a:r>
              <a:rPr lang="en-US" dirty="0"/>
              <a:t>: M (</a:t>
            </a:r>
            <a:r>
              <a:rPr lang="en-US" dirty="0" err="1"/>
              <a:t>T_m</a:t>
            </a:r>
            <a:r>
              <a:rPr lang="en-US" dirty="0"/>
              <a:t>) de b bits: </a:t>
            </a:r>
            <a:r>
              <a:rPr lang="en-US" dirty="0" err="1"/>
              <a:t>T_m</a:t>
            </a:r>
            <a:r>
              <a:rPr lang="en-US" dirty="0"/>
              <a:t> = </a:t>
            </a:r>
            <a:r>
              <a:rPr lang="en-US" dirty="0" err="1"/>
              <a:t>tL</a:t>
            </a:r>
            <a:r>
              <a:rPr lang="en-US" dirty="0"/>
              <a:t> + b/</a:t>
            </a:r>
            <a:r>
              <a:rPr lang="en-US" dirty="0" err="1"/>
              <a:t>tT</a:t>
            </a:r>
            <a:endParaRPr lang="en-US" dirty="0"/>
          </a:p>
          <a:p>
            <a:pPr algn="just">
              <a:buFont typeface="Wingdings" pitchFamily="2" charset="2"/>
              <a:buChar char="§"/>
            </a:pPr>
            <a:r>
              <a:rPr lang="en-US" dirty="0"/>
              <a:t> Jitter: </a:t>
            </a:r>
            <a:r>
              <a:rPr lang="en-US" dirty="0" err="1"/>
              <a:t>Variación</a:t>
            </a:r>
            <a:r>
              <a:rPr lang="en-US" dirty="0"/>
              <a:t> del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toma</a:t>
            </a:r>
            <a:r>
              <a:rPr lang="en-US" dirty="0"/>
              <a:t> </a:t>
            </a:r>
            <a:r>
              <a:rPr lang="en-US" dirty="0" err="1"/>
              <a:t>entregar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mensajes</a:t>
            </a:r>
            <a:r>
              <a:rPr lang="en-US" dirty="0"/>
              <a:t>. </a:t>
            </a:r>
            <a:r>
              <a:rPr lang="en-US" dirty="0" err="1"/>
              <a:t>Relevante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multimedia y gran </a:t>
            </a:r>
            <a:r>
              <a:rPr lang="en-US" dirty="0" err="1"/>
              <a:t>parte</a:t>
            </a:r>
            <a:r>
              <a:rPr lang="en-US" dirty="0"/>
              <a:t> de las </a:t>
            </a:r>
            <a:r>
              <a:rPr lang="en-US" dirty="0" err="1"/>
              <a:t>aplicaciones</a:t>
            </a:r>
            <a:r>
              <a:rPr lang="en-US" dirty="0"/>
              <a:t> </a:t>
            </a:r>
            <a:r>
              <a:rPr lang="en-US" dirty="0" err="1"/>
              <a:t>actuales</a:t>
            </a:r>
            <a:r>
              <a:rPr lang="en-US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53B6BC-0F49-7CEB-566A-DF7087035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78" y="3314629"/>
            <a:ext cx="1059209" cy="17076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7191FE-804A-8219-CB66-C058F5D4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616" y="296638"/>
            <a:ext cx="1717473" cy="1614335"/>
          </a:xfrm>
          <a:prstGeom prst="rect">
            <a:avLst/>
          </a:prstGeom>
        </p:spPr>
      </p:pic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D43D4BF-0138-7B7C-A45C-B624C8BDD25F}"/>
              </a:ext>
            </a:extLst>
          </p:cNvPr>
          <p:cNvSpPr txBox="1">
            <a:spLocks/>
          </p:cNvSpPr>
          <p:nvPr/>
        </p:nvSpPr>
        <p:spPr>
          <a:xfrm>
            <a:off x="683195" y="2651026"/>
            <a:ext cx="3205049" cy="3428043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L" sz="2200" b="1" dirty="0"/>
              <a:t>Red: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</a:t>
            </a:r>
            <a:r>
              <a:rPr lang="en-US" dirty="0" err="1"/>
              <a:t>Variados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de hardware (cables, routers, switches, </a:t>
            </a:r>
            <a:r>
              <a:rPr lang="en-US" dirty="0" err="1"/>
              <a:t>etc</a:t>
            </a:r>
            <a:r>
              <a:rPr lang="en-US" dirty="0"/>
              <a:t>).</a:t>
            </a:r>
            <a:endParaRPr lang="es-CL" sz="2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</a:t>
            </a:r>
            <a:r>
              <a:rPr lang="en-US" dirty="0" err="1"/>
              <a:t>Variados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de software.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</a:t>
            </a:r>
            <a:r>
              <a:rPr lang="en-US" dirty="0"/>
              <a:t>Medio </a:t>
            </a:r>
            <a:r>
              <a:rPr lang="en-US" dirty="0" err="1"/>
              <a:t>físico</a:t>
            </a:r>
            <a:r>
              <a:rPr lang="en-US" dirty="0"/>
              <a:t> para la </a:t>
            </a:r>
            <a:r>
              <a:rPr lang="en-US" dirty="0" err="1"/>
              <a:t>comunicación</a:t>
            </a:r>
            <a:r>
              <a:rPr lang="en-US" dirty="0"/>
              <a:t>.</a:t>
            </a:r>
            <a:endParaRPr lang="es-CL" sz="2200" dirty="0"/>
          </a:p>
        </p:txBody>
      </p:sp>
    </p:spTree>
    <p:extLst>
      <p:ext uri="{BB962C8B-B14F-4D97-AF65-F5344CB8AC3E}">
        <p14:creationId xmlns:p14="http://schemas.microsoft.com/office/powerpoint/2010/main" val="388393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FF03A-FE36-08BD-69E6-9FECC988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3C3B572F-EA75-B1C1-C0FA-4FC84E4B7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9452CA-DFF0-7AE2-00DA-3926B9D9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s-CL" sz="4000" noProof="0" dirty="0"/>
              <a:t>Fundamentos de la red</a:t>
            </a:r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70388EF7-50A3-6B52-3746-2E82C5C9B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380E26B-7A9A-FA1A-6B1F-41A18E273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C8FA2B48-3464-2539-0E7D-76A8FF4A1693}"/>
              </a:ext>
            </a:extLst>
          </p:cNvPr>
          <p:cNvSpPr txBox="1">
            <a:spLocks/>
          </p:cNvSpPr>
          <p:nvPr/>
        </p:nvSpPr>
        <p:spPr>
          <a:xfrm>
            <a:off x="5671451" y="2071839"/>
            <a:ext cx="5990944" cy="4100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9E0466-7794-F3F7-745C-35A711F71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5" y="2857356"/>
            <a:ext cx="1794496" cy="28930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103B613-792E-24A5-B982-457961B0A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046" y="3218176"/>
            <a:ext cx="2164616" cy="2034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9C9BF6-7CDC-CD5A-853F-66978B3FA6AB}"/>
              </a:ext>
            </a:extLst>
          </p:cNvPr>
          <p:cNvSpPr txBox="1"/>
          <p:nvPr/>
        </p:nvSpPr>
        <p:spPr>
          <a:xfrm>
            <a:off x="5502937" y="889843"/>
            <a:ext cx="60997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rgbClr val="000000"/>
                </a:solidFill>
                <a:effectLst/>
                <a:latin typeface="Helvetica" pitchFamily="2" charset="0"/>
              </a:rPr>
              <a:t>LAN (local area network):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Alta </a:t>
            </a:r>
            <a:r>
              <a:rPr lang="en-US" dirty="0" err="1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velocidad</a:t>
            </a:r>
            <a:r>
              <a:rPr lang="en-US" dirty="0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. </a:t>
            </a:r>
            <a:r>
              <a:rPr lang="en-US" dirty="0" err="1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Distribuida</a:t>
            </a:r>
            <a:r>
              <a:rPr lang="en-US" dirty="0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segmentos</a:t>
            </a:r>
            <a:r>
              <a:rPr lang="en-US" dirty="0">
                <a:solidFill>
                  <a:srgbClr val="000000"/>
                </a:solidFill>
                <a:effectLst/>
                <a:latin typeface="Tw Cen MT" panose="020B0602020104020603" pitchFamily="34" charset="77"/>
              </a:rPr>
              <a:t>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MAN (metropolitan area network):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Alta </a:t>
            </a:r>
            <a:r>
              <a:rPr lang="en-US" dirty="0" err="1"/>
              <a:t>velocidad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regiones </a:t>
            </a:r>
            <a:r>
              <a:rPr lang="en-US" dirty="0" err="1"/>
              <a:t>más</a:t>
            </a:r>
            <a:r>
              <a:rPr lang="en-US" dirty="0"/>
              <a:t> grande.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Útil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requerimientos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distribuidos</a:t>
            </a:r>
            <a:r>
              <a:rPr lang="en-US" dirty="0"/>
              <a:t> (</a:t>
            </a:r>
            <a:r>
              <a:rPr lang="en-US" dirty="0" err="1"/>
              <a:t>velocidad</a:t>
            </a:r>
            <a:r>
              <a:rPr lang="en-US" dirty="0"/>
              <a:t>).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WAN (wide area network):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Velocidad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Conecta</a:t>
            </a:r>
            <a:r>
              <a:rPr lang="en-US" dirty="0"/>
              <a:t> </a:t>
            </a:r>
            <a:r>
              <a:rPr lang="en-US" dirty="0" err="1"/>
              <a:t>diversas</a:t>
            </a:r>
            <a:r>
              <a:rPr lang="en-US" dirty="0"/>
              <a:t> </a:t>
            </a:r>
            <a:r>
              <a:rPr lang="en-US" dirty="0" err="1"/>
              <a:t>organizaciones</a:t>
            </a:r>
            <a:r>
              <a:rPr lang="en-US" dirty="0"/>
              <a:t> </a:t>
            </a:r>
            <a:r>
              <a:rPr lang="en-US" dirty="0" err="1"/>
              <a:t>físicamente</a:t>
            </a:r>
            <a:r>
              <a:rPr lang="en-US" dirty="0"/>
              <a:t> </a:t>
            </a:r>
            <a:r>
              <a:rPr lang="en-US" dirty="0" err="1"/>
              <a:t>distantes</a:t>
            </a:r>
            <a:r>
              <a:rPr lang="en-US" dirty="0"/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Latencia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de la </a:t>
            </a:r>
            <a:r>
              <a:rPr lang="en-US" dirty="0" err="1"/>
              <a:t>ruta</a:t>
            </a:r>
            <a:r>
              <a:rPr lang="en-US" dirty="0"/>
              <a:t> a </a:t>
            </a:r>
            <a:r>
              <a:rPr lang="en-US" dirty="0" err="1"/>
              <a:t>seguir</a:t>
            </a:r>
            <a:r>
              <a:rPr lang="en-US" dirty="0"/>
              <a:t>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Wireless networks: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Útiles</a:t>
            </a:r>
            <a:r>
              <a:rPr lang="en-US" dirty="0"/>
              <a:t> para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móviles</a:t>
            </a:r>
            <a:r>
              <a:rPr lang="en-US" dirty="0"/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Alternativa a LAN </a:t>
            </a:r>
            <a:r>
              <a:rPr lang="en-US" dirty="0" err="1"/>
              <a:t>cableadas</a:t>
            </a:r>
            <a:r>
              <a:rPr lang="en-US" dirty="0"/>
              <a:t>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Internetworks:</a:t>
            </a:r>
            <a:endParaRPr lang="en-US" b="1" dirty="0">
              <a:solidFill>
                <a:srgbClr val="000000"/>
              </a:solidFill>
              <a:latin typeface="Helvetica" pitchFamily="2" charset="0"/>
            </a:endParaRP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 err="1"/>
              <a:t>Conexión</a:t>
            </a:r>
            <a:r>
              <a:rPr lang="en-US" dirty="0"/>
              <a:t> de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subsistemas</a:t>
            </a:r>
            <a:r>
              <a:rPr lang="en-US" dirty="0"/>
              <a:t> de redes.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Uso de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tecnologías</a:t>
            </a:r>
            <a:r>
              <a:rPr lang="en-US" dirty="0"/>
              <a:t> y </a:t>
            </a:r>
            <a:r>
              <a:rPr lang="en-US" dirty="0" err="1"/>
              <a:t>protocolos</a:t>
            </a:r>
            <a:r>
              <a:rPr lang="en-US" dirty="0"/>
              <a:t>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 err="1"/>
              <a:t>Útil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desarrollo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distribuidos</a:t>
            </a:r>
            <a:r>
              <a:rPr lang="en-US" dirty="0"/>
              <a:t> </a:t>
            </a:r>
            <a:r>
              <a:rPr lang="en-US" dirty="0" err="1"/>
              <a:t>extensibles</a:t>
            </a:r>
            <a:r>
              <a:rPr lang="en-US" dirty="0"/>
              <a:t> y </a:t>
            </a:r>
            <a:r>
              <a:rPr lang="en-US" dirty="0" err="1"/>
              <a:t>abiertos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56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1A949-0924-DF94-D558-B926F372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A50789EF-2AAD-BEC7-B224-27292771F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8934FE59-A6E0-AC5D-6FD4-9D566D21F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78C6AF-6581-6B98-CE75-9ED3D5368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B3AB28D2-5445-704F-A6C5-5003B7C50D3C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Comunicación: Fundamentos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31276ED3-E09F-E2A0-2FB3-B3B27D511D92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53A4AE86-C1BA-7504-C051-7CBB81872F72}"/>
              </a:ext>
            </a:extLst>
          </p:cNvPr>
          <p:cNvSpPr/>
          <p:nvPr/>
        </p:nvSpPr>
        <p:spPr>
          <a:xfrm>
            <a:off x="847928" y="1660216"/>
            <a:ext cx="461617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595511F-773D-EB9F-B653-C221F208C4DD}"/>
              </a:ext>
            </a:extLst>
          </p:cNvPr>
          <p:cNvSpPr/>
          <p:nvPr/>
        </p:nvSpPr>
        <p:spPr>
          <a:xfrm>
            <a:off x="1030808" y="1751656"/>
            <a:ext cx="4205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Protocolo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B153BC91-7424-7AC1-F906-23E4B92887AE}"/>
              </a:ext>
            </a:extLst>
          </p:cNvPr>
          <p:cNvSpPr/>
          <p:nvPr/>
        </p:nvSpPr>
        <p:spPr>
          <a:xfrm>
            <a:off x="1030808" y="2163135"/>
            <a:ext cx="4205844" cy="29106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Conjunto de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reglas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controlan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comunicación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entidades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red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Define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codificación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inicio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/fin del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mensaje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errores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Estandariza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representación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enteros</a:t>
            </a: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, strings, endianness)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6E748F66-CDCB-6557-E582-8BD2B17CB195}"/>
              </a:ext>
            </a:extLst>
          </p:cNvPr>
          <p:cNvSpPr/>
          <p:nvPr/>
        </p:nvSpPr>
        <p:spPr>
          <a:xfrm>
            <a:off x="6594152" y="1660216"/>
            <a:ext cx="4718752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4CFEE45E-4A44-A4EE-0011-31758C9B4EFE}"/>
              </a:ext>
            </a:extLst>
          </p:cNvPr>
          <p:cNvSpPr/>
          <p:nvPr/>
        </p:nvSpPr>
        <p:spPr>
          <a:xfrm>
            <a:off x="6777031" y="1751656"/>
            <a:ext cx="43084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Middleware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DDCAA916-C68C-0FB6-4C08-C119AFADE1AC}"/>
              </a:ext>
            </a:extLst>
          </p:cNvPr>
          <p:cNvSpPr/>
          <p:nvPr/>
        </p:nvSpPr>
        <p:spPr>
          <a:xfrm>
            <a:off x="6777031" y="2163136"/>
            <a:ext cx="4308425" cy="2910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Capa de software entre el OS y las aplicaciones distribuidas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Ofrece servicios como llamadas remotas, mensajería e invocación de objetos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Abstrae los detalles de red (sockets, IP, TCP, UDP)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Ejemplos: sockets, RPC, RMI, pub/sub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324F353-AE7F-F896-54F2-6B3E675D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13" y="31861"/>
            <a:ext cx="3861486" cy="16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7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2605A-E8CD-AC54-AD6E-E5402D45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481E10F9-7602-5A10-4095-57B6DA864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4CD96404-45D7-8C33-C9BC-5D027091E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8687A1A-1E1C-403C-43A1-5AEC889B9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E0B0CC2-9A35-A9AE-6F21-22A6E4B00683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comunican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procesos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8F09B53-F8F9-827B-5F73-25FF4CE2872B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4D6B4B0E-EACE-8814-B6F2-F9B9555EA692}"/>
              </a:ext>
            </a:extLst>
          </p:cNvPr>
          <p:cNvSpPr/>
          <p:nvPr/>
        </p:nvSpPr>
        <p:spPr>
          <a:xfrm>
            <a:off x="689703" y="1943028"/>
            <a:ext cx="3198541" cy="3749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CB54F2F3-83A9-26FE-5EFA-AE0F4128A02C}"/>
              </a:ext>
            </a:extLst>
          </p:cNvPr>
          <p:cNvSpPr/>
          <p:nvPr/>
        </p:nvSpPr>
        <p:spPr>
          <a:xfrm>
            <a:off x="689703" y="1943028"/>
            <a:ext cx="3198541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EFB6EDE0-EDD1-29E2-C48A-DEBEEF9EC78C}"/>
              </a:ext>
            </a:extLst>
          </p:cNvPr>
          <p:cNvSpPr/>
          <p:nvPr/>
        </p:nvSpPr>
        <p:spPr>
          <a:xfrm>
            <a:off x="826864" y="2034468"/>
            <a:ext cx="2889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Interprocess Comm.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42B6D18-D15E-362B-148E-59F617DFD7D8}"/>
              </a:ext>
            </a:extLst>
          </p:cNvPr>
          <p:cNvSpPr/>
          <p:nvPr/>
        </p:nvSpPr>
        <p:spPr>
          <a:xfrm>
            <a:off x="826864" y="2537388"/>
            <a:ext cx="288900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Comunicación directa de bajo nivel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Usa primitivas send/receive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Ejemplo: Sockets, MPI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E99E8024-BFED-8FE0-DB18-6ECDCAFD50CE}"/>
              </a:ext>
            </a:extLst>
          </p:cNvPr>
          <p:cNvSpPr/>
          <p:nvPr/>
        </p:nvSpPr>
        <p:spPr>
          <a:xfrm>
            <a:off x="4542449" y="1943028"/>
            <a:ext cx="3198541" cy="3749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BB36116E-98E9-9799-693B-616EEB1A5225}"/>
              </a:ext>
            </a:extLst>
          </p:cNvPr>
          <p:cNvSpPr/>
          <p:nvPr/>
        </p:nvSpPr>
        <p:spPr>
          <a:xfrm>
            <a:off x="4542449" y="1943028"/>
            <a:ext cx="3198541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2EA1864-DB94-37AF-B53A-DA9FB8D55B07}"/>
              </a:ext>
            </a:extLst>
          </p:cNvPr>
          <p:cNvSpPr/>
          <p:nvPr/>
        </p:nvSpPr>
        <p:spPr>
          <a:xfrm>
            <a:off x="4679610" y="2034468"/>
            <a:ext cx="2889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Remote Invocation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D802B12-17C4-E532-E1E2-CB9526E59ED0}"/>
              </a:ext>
            </a:extLst>
          </p:cNvPr>
          <p:cNvSpPr/>
          <p:nvPr/>
        </p:nvSpPr>
        <p:spPr>
          <a:xfrm>
            <a:off x="4679610" y="2537388"/>
            <a:ext cx="288900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Comunicación bidireccional (request/reply)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Paradigma más común en SD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Ejemplo: RPC, RMI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F19E5F26-C71B-268E-E144-72E35430BDF8}"/>
              </a:ext>
            </a:extLst>
          </p:cNvPr>
          <p:cNvSpPr/>
          <p:nvPr/>
        </p:nvSpPr>
        <p:spPr>
          <a:xfrm>
            <a:off x="8395195" y="1943028"/>
            <a:ext cx="3198541" cy="3749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EE837060-0038-8386-A69B-4FE778A985B7}"/>
              </a:ext>
            </a:extLst>
          </p:cNvPr>
          <p:cNvSpPr/>
          <p:nvPr/>
        </p:nvSpPr>
        <p:spPr>
          <a:xfrm>
            <a:off x="8395195" y="1943028"/>
            <a:ext cx="3198541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14D1927-4CC0-D87B-A4C5-08FE32171022}"/>
              </a:ext>
            </a:extLst>
          </p:cNvPr>
          <p:cNvSpPr/>
          <p:nvPr/>
        </p:nvSpPr>
        <p:spPr>
          <a:xfrm>
            <a:off x="8532356" y="2034468"/>
            <a:ext cx="3198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A825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Indirect Communication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88FE1CDC-18F0-DCC0-4EE6-F43C16640330}"/>
              </a:ext>
            </a:extLst>
          </p:cNvPr>
          <p:cNvSpPr/>
          <p:nvPr/>
        </p:nvSpPr>
        <p:spPr>
          <a:xfrm>
            <a:off x="8532356" y="2537388"/>
            <a:ext cx="288900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Tercera entidad como intermediario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Desacople temporal y espacial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Emisor y receptor no se conocen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Ejemplo: Pub/Sub, Message Queues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1E944E-167E-7577-E274-5A2CDE0C0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356" y="0"/>
            <a:ext cx="3659644" cy="192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4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8C704-32E3-DFEC-6960-F30D3531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2B69A3A-2C3C-62A3-1993-33ED6B3CE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BA9D902F-87C7-356D-923D-A58FFB302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D3604D5-84EE-C779-929B-F8F528D7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23918D6A-8410-0C09-553C-497D6DF0C300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Message Queues vs Pub/Sub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65705161-2DBF-B5F1-B1C8-7ED17CC1C5E3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DD3E2EE-631E-4B42-3E7F-D01FA931D59F}"/>
              </a:ext>
            </a:extLst>
          </p:cNvPr>
          <p:cNvSpPr/>
          <p:nvPr/>
        </p:nvSpPr>
        <p:spPr>
          <a:xfrm>
            <a:off x="962164" y="1874448"/>
            <a:ext cx="4613446" cy="406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4DD2FA8-7920-5804-CD06-67AA9E57E0E5}"/>
              </a:ext>
            </a:extLst>
          </p:cNvPr>
          <p:cNvSpPr/>
          <p:nvPr/>
        </p:nvSpPr>
        <p:spPr>
          <a:xfrm>
            <a:off x="962164" y="1874447"/>
            <a:ext cx="4613446" cy="79315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7889CE9-B19F-19E3-4E82-E3959A5218A8}"/>
              </a:ext>
            </a:extLst>
          </p:cNvPr>
          <p:cNvSpPr/>
          <p:nvPr/>
        </p:nvSpPr>
        <p:spPr>
          <a:xfrm>
            <a:off x="1145044" y="1965888"/>
            <a:ext cx="4203362" cy="446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Message Queues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CD245A6-217E-DF17-1C2D-F9AF2F083D01}"/>
              </a:ext>
            </a:extLst>
          </p:cNvPr>
          <p:cNvSpPr/>
          <p:nvPr/>
        </p:nvSpPr>
        <p:spPr>
          <a:xfrm>
            <a:off x="1145044" y="2468808"/>
            <a:ext cx="4203362" cy="317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Delegan trabajo de un servicio a otro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Sin orden garantizado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Si un consumidor cae, otro toma el mensaje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Comunicación más durable que sincronía tradicional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Ideal para escalar horizontalmente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020815FB-1FBD-9043-41E7-2BFF65ABB9DE}"/>
              </a:ext>
            </a:extLst>
          </p:cNvPr>
          <p:cNvSpPr/>
          <p:nvPr/>
        </p:nvSpPr>
        <p:spPr>
          <a:xfrm>
            <a:off x="6330988" y="1874448"/>
            <a:ext cx="4715968" cy="406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B1715B33-9DD8-D41C-CA82-10FD31116A12}"/>
              </a:ext>
            </a:extLst>
          </p:cNvPr>
          <p:cNvSpPr/>
          <p:nvPr/>
        </p:nvSpPr>
        <p:spPr>
          <a:xfrm>
            <a:off x="6330988" y="1874447"/>
            <a:ext cx="4715968" cy="7931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57B6385-D699-E1D5-97A5-1EDE00E3FE15}"/>
              </a:ext>
            </a:extLst>
          </p:cNvPr>
          <p:cNvSpPr/>
          <p:nvPr/>
        </p:nvSpPr>
        <p:spPr>
          <a:xfrm>
            <a:off x="6513868" y="1965888"/>
            <a:ext cx="4305883" cy="446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Pub/Sub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8B44515A-7EE0-115C-7331-ED4D8CE48AEF}"/>
              </a:ext>
            </a:extLst>
          </p:cNvPr>
          <p:cNvSpPr/>
          <p:nvPr/>
        </p:nvSpPr>
        <p:spPr>
          <a:xfrm>
            <a:off x="6513868" y="2468808"/>
            <a:ext cx="4305883" cy="317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Todos los suscriptores reciben al menos 1 copia del mensaje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Mismo orden para todos los suscriptores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Cada suscriptor tiene su propia cola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Al recuperarse, consume eventos pendientes de su cola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Ideal para difundir eventos a múltiples receptores</a:t>
            </a:r>
            <a:endParaRPr lang="en-US" sz="2000" dirty="0"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560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6A7D4-EEF1-1BAC-4E3A-6D0968D8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642E1E07-5F48-255A-5232-F87E4ADC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81C4A02-7025-9018-A9B9-27CC23403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CA2392F-24C9-367F-943E-B37BB45C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9F0610C3-4251-E2DA-6A3B-F8E506CDEB7F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RPC: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Concepto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Propiedades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1003172E-BF41-BB44-CFCC-58DA91D58586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580EABD7-1379-CC25-4EAF-440535442D8C}"/>
              </a:ext>
            </a:extLst>
          </p:cNvPr>
          <p:cNvSpPr/>
          <p:nvPr/>
        </p:nvSpPr>
        <p:spPr>
          <a:xfrm>
            <a:off x="727987" y="1897308"/>
            <a:ext cx="10721159" cy="777240"/>
          </a:xfrm>
          <a:prstGeom prst="rect">
            <a:avLst/>
          </a:prstGeom>
          <a:solidFill>
            <a:srgbClr val="0F2236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FA04298-BFD2-42A8-3B0B-92DD0AB67047}"/>
              </a:ext>
            </a:extLst>
          </p:cNvPr>
          <p:cNvSpPr/>
          <p:nvPr/>
        </p:nvSpPr>
        <p:spPr>
          <a:xfrm>
            <a:off x="1176734" y="1943028"/>
            <a:ext cx="9830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Protocolo que permite invocar un procedimiento en otra máquina sin conocer los detalles de red — modelo Cliente/Servidor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88216FB-76FB-C5A9-5D4A-BCF98804D9CB}"/>
              </a:ext>
            </a:extLst>
          </p:cNvPr>
          <p:cNvSpPr/>
          <p:nvPr/>
        </p:nvSpPr>
        <p:spPr>
          <a:xfrm>
            <a:off x="727988" y="2916447"/>
            <a:ext cx="5133837" cy="2926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DF9810B-EA66-6507-D8B3-B0F0D8362F91}"/>
              </a:ext>
            </a:extLst>
          </p:cNvPr>
          <p:cNvSpPr/>
          <p:nvPr/>
        </p:nvSpPr>
        <p:spPr>
          <a:xfrm>
            <a:off x="910869" y="3007887"/>
            <a:ext cx="411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Propiedades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58B6821-D42D-5551-DE53-1E29545B70F7}"/>
              </a:ext>
            </a:extLst>
          </p:cNvPr>
          <p:cNvSpPr/>
          <p:nvPr/>
        </p:nvSpPr>
        <p:spPr>
          <a:xfrm>
            <a:off x="910869" y="3419367"/>
            <a:ext cx="41122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Nivel de lenguaje: fácil para el programador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Request/reply síncrono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Distribución transparente al programador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Garantía parcial ante fallas (retry)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E20359B-8639-8B5A-5630-B90205EEFEF7}"/>
              </a:ext>
            </a:extLst>
          </p:cNvPr>
          <p:cNvSpPr/>
          <p:nvPr/>
        </p:nvSpPr>
        <p:spPr>
          <a:xfrm>
            <a:off x="6315310" y="2916447"/>
            <a:ext cx="5133837" cy="2926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051B2F5A-8D05-925A-6CC4-51A570C92C12}"/>
              </a:ext>
            </a:extLst>
          </p:cNvPr>
          <p:cNvSpPr/>
          <p:nvPr/>
        </p:nvSpPr>
        <p:spPr>
          <a:xfrm>
            <a:off x="6498190" y="3007887"/>
            <a:ext cx="4687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Flujo básico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167F781-3743-C931-DD45-60B003CAEA4C}"/>
              </a:ext>
            </a:extLst>
          </p:cNvPr>
          <p:cNvSpPr/>
          <p:nvPr/>
        </p:nvSpPr>
        <p:spPr>
          <a:xfrm>
            <a:off x="6498190" y="3419367"/>
            <a:ext cx="468741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Proceso A invoca procedimiento en máquina B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Define parámetros y espera resultado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El cliente se bloquea durante la llamada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El servidor ejecuta y retorna el resultado</a:t>
            </a:r>
            <a:endParaRPr lang="en-US" sz="2000" dirty="0"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532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044E6-C35E-DE6A-82DD-62C24D74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C43C6002-D920-E95A-FC90-CC2AC7EB1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501018E-D5FE-7317-F0E4-0D02733B2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9F8E1B6-8406-51BC-0753-1912BC4EC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AC3D6DA1-A711-98D8-86E2-FBA3523BA256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RPC: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Desventajas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y Fallas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B6E4672E-1752-0839-0713-06C30B6965DE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3B521740-B5BF-1ABD-A650-EE25A33E972D}"/>
              </a:ext>
            </a:extLst>
          </p:cNvPr>
          <p:cNvSpPr/>
          <p:nvPr/>
        </p:nvSpPr>
        <p:spPr>
          <a:xfrm>
            <a:off x="731519" y="1765108"/>
            <a:ext cx="4799485" cy="3749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1F9F9FE-448F-681F-17C6-FA6DBA7FB145}"/>
              </a:ext>
            </a:extLst>
          </p:cNvPr>
          <p:cNvSpPr/>
          <p:nvPr/>
        </p:nvSpPr>
        <p:spPr>
          <a:xfrm>
            <a:off x="731519" y="1765108"/>
            <a:ext cx="4799485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7E7FA2B5-C923-F798-747C-0A29E8F9C8DB}"/>
              </a:ext>
            </a:extLst>
          </p:cNvPr>
          <p:cNvSpPr/>
          <p:nvPr/>
        </p:nvSpPr>
        <p:spPr>
          <a:xfrm>
            <a:off x="914400" y="1856548"/>
            <a:ext cx="437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5350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Desventajas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6E3EAC3F-2AE8-F9D6-B930-ADC4CB5C19F5}"/>
              </a:ext>
            </a:extLst>
          </p:cNvPr>
          <p:cNvSpPr/>
          <p:nvPr/>
        </p:nvSpPr>
        <p:spPr>
          <a:xfrm>
            <a:off x="914400" y="2359468"/>
            <a:ext cx="43728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Atado al modelo Cliente/Servidor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Síncrono: cliente bloqueado esperando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Overhead por marshalling/unmarshalling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No hay transparencia total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No es orientado a objetos (se invocan funciones, no métodos)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1C8BD7E6-57B7-70FE-74B8-3F02AEFFEC5A}"/>
              </a:ext>
            </a:extLst>
          </p:cNvPr>
          <p:cNvSpPr/>
          <p:nvPr/>
        </p:nvSpPr>
        <p:spPr>
          <a:xfrm>
            <a:off x="6416040" y="1765108"/>
            <a:ext cx="4906140" cy="3749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EE8F818A-2185-A88C-4110-33E32B4AA94B}"/>
              </a:ext>
            </a:extLst>
          </p:cNvPr>
          <p:cNvSpPr/>
          <p:nvPr/>
        </p:nvSpPr>
        <p:spPr>
          <a:xfrm>
            <a:off x="6416040" y="1765108"/>
            <a:ext cx="49061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94BC9414-623F-A6C1-5271-FB9EE1B872BD}"/>
              </a:ext>
            </a:extLst>
          </p:cNvPr>
          <p:cNvSpPr/>
          <p:nvPr/>
        </p:nvSpPr>
        <p:spPr>
          <a:xfrm>
            <a:off x="6598919" y="1856548"/>
            <a:ext cx="44795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A825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Tipos de Fallas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76590407-87A9-1394-7011-FB176257F699}"/>
              </a:ext>
            </a:extLst>
          </p:cNvPr>
          <p:cNvSpPr/>
          <p:nvPr/>
        </p:nvSpPr>
        <p:spPr>
          <a:xfrm>
            <a:off x="6598919" y="2359468"/>
            <a:ext cx="447951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Congestión de red o servidor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Caída del cliente durante la llamada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Caída del servidor durante la ejecución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Falla de red entre cliente y servidor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Manejo: el error se delega al programador (retry)</a:t>
            </a:r>
            <a:endParaRPr lang="en-US" sz="2000" dirty="0"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490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61DCA-4E2C-FEA5-9B05-7B0050C5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AB7BC9B-2C61-614E-3317-39A1930E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9792C33F-9D81-780C-6194-AAF896E90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7F1FD72-7FDF-FB45-F70D-1F21737E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6EFF8FB8-03C5-6E92-4CFA-B6E34D93B47A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Stub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Servidor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24BDC8B6-9E39-F98A-1B0A-F1D9373DD455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93B8C31-92E9-3833-46E1-AD762E07CE4C}"/>
              </a:ext>
            </a:extLst>
          </p:cNvPr>
          <p:cNvSpPr/>
          <p:nvPr/>
        </p:nvSpPr>
        <p:spPr>
          <a:xfrm>
            <a:off x="683382" y="1892559"/>
            <a:ext cx="5133837" cy="3941419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637FCAA-3DEA-E05C-2A4B-5CE7E4EC7753}"/>
              </a:ext>
            </a:extLst>
          </p:cNvPr>
          <p:cNvSpPr/>
          <p:nvPr/>
        </p:nvSpPr>
        <p:spPr>
          <a:xfrm>
            <a:off x="683382" y="1892560"/>
            <a:ext cx="5133837" cy="7690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F2DBD69-B8F4-5A26-2432-131611DE286B}"/>
              </a:ext>
            </a:extLst>
          </p:cNvPr>
          <p:cNvSpPr/>
          <p:nvPr/>
        </p:nvSpPr>
        <p:spPr>
          <a:xfrm>
            <a:off x="866263" y="1983999"/>
            <a:ext cx="4677496" cy="432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Stub Cliente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51B29AF-8C2A-8C12-8366-42A465033507}"/>
              </a:ext>
            </a:extLst>
          </p:cNvPr>
          <p:cNvSpPr/>
          <p:nvPr/>
        </p:nvSpPr>
        <p:spPr>
          <a:xfrm>
            <a:off x="866263" y="2486919"/>
            <a:ext cx="4677496" cy="3076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Objetivo: hacer la llamada remota igual a una local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El llamador no nota que se ejecuta en otra máquina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Empaqueta (marshalling) los parámetros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Los envía por la red en vez de solicitarlos al SO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Al recibir respuesta, desempaqueta el resultado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8D13925-5B6B-CB22-EF61-58366BD015FF}"/>
              </a:ext>
            </a:extLst>
          </p:cNvPr>
          <p:cNvSpPr/>
          <p:nvPr/>
        </p:nvSpPr>
        <p:spPr>
          <a:xfrm>
            <a:off x="6252580" y="1892559"/>
            <a:ext cx="5247923" cy="3941419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6BE030E-B549-4E6D-F40A-DDE131233C00}"/>
              </a:ext>
            </a:extLst>
          </p:cNvPr>
          <p:cNvSpPr/>
          <p:nvPr/>
        </p:nvSpPr>
        <p:spPr>
          <a:xfrm>
            <a:off x="6252580" y="1892560"/>
            <a:ext cx="5247923" cy="7690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32D9D7D-1A71-D669-9003-317BED4EBC16}"/>
              </a:ext>
            </a:extLst>
          </p:cNvPr>
          <p:cNvSpPr/>
          <p:nvPr/>
        </p:nvSpPr>
        <p:spPr>
          <a:xfrm>
            <a:off x="6435460" y="1983999"/>
            <a:ext cx="4791581" cy="432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Stub Servidor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373030F3-8511-1B83-F04E-17176CEB89F5}"/>
              </a:ext>
            </a:extLst>
          </p:cNvPr>
          <p:cNvSpPr/>
          <p:nvPr/>
        </p:nvSpPr>
        <p:spPr>
          <a:xfrm>
            <a:off x="6435460" y="2486919"/>
            <a:ext cx="4791581" cy="3076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Recibe el mensaje y lo transforma a llamadas locales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Se bloquea esperando la invocación del cliente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Desempaqueta los parámetros (unmarshalling)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Llama al procedimiento local con los parámetros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Retorna el resultado al stub cliente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CB413E1-D5D5-179D-DD06-134BA2B59F22}"/>
              </a:ext>
            </a:extLst>
          </p:cNvPr>
          <p:cNvSpPr/>
          <p:nvPr/>
        </p:nvSpPr>
        <p:spPr>
          <a:xfrm>
            <a:off x="683383" y="6006831"/>
            <a:ext cx="10817120" cy="288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El paso de mensajes queda oculto — no hay invocación explícita a send/receive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C75F81-756F-E579-4219-467822BBE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322" y="0"/>
            <a:ext cx="3676958" cy="185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8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43D9C-BABD-AE83-79E7-A21C0DD1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8854F186-3FF4-C301-F44F-C14A8EB76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3C52B3B8-E32C-6891-C29E-46C9DF317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15B8C8CE-6CDB-07AF-FB86-E0DEEE842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C59A6882-1D5F-78A4-2497-357344E91064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Paso de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Parámetros</a:t>
            </a:r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 y Java RMI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2C189A7C-AFD0-9492-6261-188F55FFC9DA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B10D85E-D6C4-AE2D-6C8F-1FEDDA96068E}"/>
              </a:ext>
            </a:extLst>
          </p:cNvPr>
          <p:cNvSpPr/>
          <p:nvPr/>
        </p:nvSpPr>
        <p:spPr>
          <a:xfrm>
            <a:off x="527887" y="1763560"/>
            <a:ext cx="11214647" cy="712321"/>
          </a:xfrm>
          <a:prstGeom prst="rect">
            <a:avLst/>
          </a:prstGeom>
          <a:solidFill>
            <a:srgbClr val="0F2236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CL" sz="2000" dirty="0">
              <a:latin typeface="Tw Cen MT" panose="020B0602020104020603" pitchFamily="34" charset="77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35C5CF6F-396D-BB1E-8B6D-8960BB793B42}"/>
              </a:ext>
            </a:extLst>
          </p:cNvPr>
          <p:cNvSpPr/>
          <p:nvPr/>
        </p:nvSpPr>
        <p:spPr>
          <a:xfrm>
            <a:off x="710767" y="1809280"/>
            <a:ext cx="10953346" cy="610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Marshalling: transformación de datos al formato adecuado para transmisión en la red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615A4C0-1827-CFD9-62A5-39801CCC66E1}"/>
              </a:ext>
            </a:extLst>
          </p:cNvPr>
          <p:cNvSpPr/>
          <p:nvPr/>
        </p:nvSpPr>
        <p:spPr>
          <a:xfrm>
            <a:off x="527888" y="2824897"/>
            <a:ext cx="3460596" cy="3358083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B96764F5-6218-939D-9A9D-E8C1A3AC1AC0}"/>
              </a:ext>
            </a:extLst>
          </p:cNvPr>
          <p:cNvSpPr/>
          <p:nvPr/>
        </p:nvSpPr>
        <p:spPr>
          <a:xfrm>
            <a:off x="710767" y="2916338"/>
            <a:ext cx="2999183" cy="4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Por Valor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60FA19E-0C64-EAC6-DF0D-0F8ECEFEA1D9}"/>
              </a:ext>
            </a:extLst>
          </p:cNvPr>
          <p:cNvSpPr/>
          <p:nvPr/>
        </p:nvSpPr>
        <p:spPr>
          <a:xfrm>
            <a:off x="710767" y="3327818"/>
            <a:ext cx="2999183" cy="25440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Copia del dato se envía en el mensaje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Representación de datos (ASCII, EBCDIC)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Problema de endianness (little/big endian)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88E7E98F-2A35-928F-B2B4-295ECE5A4FEF}"/>
              </a:ext>
            </a:extLst>
          </p:cNvPr>
          <p:cNvSpPr/>
          <p:nvPr/>
        </p:nvSpPr>
        <p:spPr>
          <a:xfrm>
            <a:off x="4411480" y="2824897"/>
            <a:ext cx="3691302" cy="3358083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DBC01554-4E4C-965E-A380-4BC8955CC85B}"/>
              </a:ext>
            </a:extLst>
          </p:cNvPr>
          <p:cNvSpPr/>
          <p:nvPr/>
        </p:nvSpPr>
        <p:spPr>
          <a:xfrm>
            <a:off x="4594360" y="2916338"/>
            <a:ext cx="3229890" cy="4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Por Referencia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F4F42078-733E-0C27-66C1-21BE2104E6C2}"/>
              </a:ext>
            </a:extLst>
          </p:cNvPr>
          <p:cNvSpPr/>
          <p:nvPr/>
        </p:nvSpPr>
        <p:spPr>
          <a:xfrm>
            <a:off x="4594360" y="3327818"/>
            <a:ext cx="3229890" cy="25440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Las referencias solo tienen sentido localmente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Solución: copiar el arreglo completo y enviarlo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Servidor lo referencia en su espacio local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El arreglo modificado se retorna al cliente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93A7757A-6BD2-CA23-B6A4-840F1BD859DF}"/>
              </a:ext>
            </a:extLst>
          </p:cNvPr>
          <p:cNvSpPr/>
          <p:nvPr/>
        </p:nvSpPr>
        <p:spPr>
          <a:xfrm>
            <a:off x="8513648" y="2824897"/>
            <a:ext cx="3229890" cy="3358083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291AF46E-D516-DF15-96E2-CEDEE76D664B}"/>
              </a:ext>
            </a:extLst>
          </p:cNvPr>
          <p:cNvSpPr/>
          <p:nvPr/>
        </p:nvSpPr>
        <p:spPr>
          <a:xfrm>
            <a:off x="8696527" y="2916338"/>
            <a:ext cx="2768477" cy="4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A825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Java RMI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D7E50DB2-1D3C-27BE-0D10-BA18D80BB81A}"/>
              </a:ext>
            </a:extLst>
          </p:cNvPr>
          <p:cNvSpPr/>
          <p:nvPr/>
        </p:nvSpPr>
        <p:spPr>
          <a:xfrm>
            <a:off x="8696527" y="3327818"/>
            <a:ext cx="2768477" cy="25440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RPC orientado a objetos en Java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Objetos remotos con interfaces remotas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Stub en cliente, Skeleton en servidor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Enmascara objetos remotos con un proxy</a:t>
            </a:r>
            <a:endParaRPr lang="en-US" sz="2000" dirty="0"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22022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6B095-3E9D-F154-53A1-E53172FA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C77E0A6E-4ACB-1666-37F7-10A70219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B78E324-4655-B05F-5C50-9C0B45186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E587EE9-943E-35E0-5E38-64F075596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B7D752A-7618-1552-49A1-AEF8E41364BE}"/>
              </a:ext>
            </a:extLst>
          </p:cNvPr>
          <p:cNvSpPr/>
          <p:nvPr/>
        </p:nvSpPr>
        <p:spPr>
          <a:xfrm>
            <a:off x="527888" y="685657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RPC </a:t>
            </a:r>
            <a:r>
              <a:rPr lang="en-US" sz="4000" b="1" dirty="0" err="1"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Asíncrono</a:t>
            </a:r>
            <a:endParaRPr lang="en-US" sz="4000" dirty="0">
              <a:latin typeface="Tw Cen MT" panose="020B0602020104020603" pitchFamily="34" charset="77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48C96985-CB53-5249-72CC-447BE96C61FA}"/>
              </a:ext>
            </a:extLst>
          </p:cNvPr>
          <p:cNvSpPr/>
          <p:nvPr/>
        </p:nvSpPr>
        <p:spPr>
          <a:xfrm>
            <a:off x="527888" y="1389745"/>
            <a:ext cx="85039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CL">
              <a:latin typeface="Tw Cen MT" panose="020B0602020104020603" pitchFamily="34" charset="77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E2D9923-35AD-926E-DA8B-430872B5702F}"/>
              </a:ext>
            </a:extLst>
          </p:cNvPr>
          <p:cNvSpPr/>
          <p:nvPr/>
        </p:nvSpPr>
        <p:spPr>
          <a:xfrm>
            <a:off x="527887" y="1965888"/>
            <a:ext cx="11096566" cy="702103"/>
          </a:xfrm>
          <a:prstGeom prst="rect">
            <a:avLst/>
          </a:prstGeom>
          <a:solidFill>
            <a:srgbClr val="0F2236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02783A1-A18B-A051-AFB0-18708F745632}"/>
              </a:ext>
            </a:extLst>
          </p:cNvPr>
          <p:cNvSpPr/>
          <p:nvPr/>
        </p:nvSpPr>
        <p:spPr>
          <a:xfrm>
            <a:off x="710768" y="2011608"/>
            <a:ext cx="10646157" cy="601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F5350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Por defecto, el RPC es síncrono y bloqueante: el cliente espera hasta recibir el resultado completo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09EC99D-6DAF-CE60-A6F4-08D349174567}"/>
              </a:ext>
            </a:extLst>
          </p:cNvPr>
          <p:cNvSpPr/>
          <p:nvPr/>
        </p:nvSpPr>
        <p:spPr>
          <a:xfrm>
            <a:off x="527887" y="2862387"/>
            <a:ext cx="5203840" cy="3309915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F52AC552-7804-0297-8C8C-C477C9476151}"/>
              </a:ext>
            </a:extLst>
          </p:cNvPr>
          <p:cNvSpPr/>
          <p:nvPr/>
        </p:nvSpPr>
        <p:spPr>
          <a:xfrm>
            <a:off x="527887" y="2862388"/>
            <a:ext cx="5203840" cy="802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97FE910-BC95-A900-71DE-7D9AC08F23C5}"/>
              </a:ext>
            </a:extLst>
          </p:cNvPr>
          <p:cNvSpPr/>
          <p:nvPr/>
        </p:nvSpPr>
        <p:spPr>
          <a:xfrm>
            <a:off x="710767" y="2953828"/>
            <a:ext cx="4741277" cy="45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5350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RPC Síncrono (clásico)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710D383-D234-EAD2-CA9F-26A6B61498EB}"/>
              </a:ext>
            </a:extLst>
          </p:cNvPr>
          <p:cNvSpPr/>
          <p:nvPr/>
        </p:nvSpPr>
        <p:spPr>
          <a:xfrm>
            <a:off x="710767" y="3456747"/>
            <a:ext cx="4741277" cy="25075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Cliente envía request al servidor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Cliente queda bloqueado esperando reply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Solo continúa al recibir el resultado completo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Sencillo de implementar pero ineficiente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24548B9E-EFA1-AF62-4399-462F0DAEB072}"/>
              </a:ext>
            </a:extLst>
          </p:cNvPr>
          <p:cNvSpPr/>
          <p:nvPr/>
        </p:nvSpPr>
        <p:spPr>
          <a:xfrm>
            <a:off x="6304972" y="2862387"/>
            <a:ext cx="5319481" cy="3309915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CA5669FC-6784-1B34-47DB-A466FB696112}"/>
              </a:ext>
            </a:extLst>
          </p:cNvPr>
          <p:cNvSpPr/>
          <p:nvPr/>
        </p:nvSpPr>
        <p:spPr>
          <a:xfrm>
            <a:off x="6304972" y="2862388"/>
            <a:ext cx="5319481" cy="80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CL" sz="2000">
              <a:latin typeface="Tw Cen MT" panose="020B0602020104020603" pitchFamily="34" charset="77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A3A91F2-76AC-B061-BF9A-811698344E54}"/>
              </a:ext>
            </a:extLst>
          </p:cNvPr>
          <p:cNvSpPr/>
          <p:nvPr/>
        </p:nvSpPr>
        <p:spPr>
          <a:xfrm>
            <a:off x="6487852" y="2953828"/>
            <a:ext cx="4856917" cy="45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RPC Asíncrono (optimizado)</a:t>
            </a:r>
            <a:endParaRPr lang="en-US" sz="2400" dirty="0">
              <a:latin typeface="Tw Cen MT" panose="020B0602020104020603" pitchFamily="34" charset="77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74F021C-2FE5-D68C-48F2-CDD220F6589D}"/>
              </a:ext>
            </a:extLst>
          </p:cNvPr>
          <p:cNvSpPr/>
          <p:nvPr/>
        </p:nvSpPr>
        <p:spPr>
          <a:xfrm>
            <a:off x="6487852" y="3456747"/>
            <a:ext cx="4856917" cy="25075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Servidor envía ACK de aceptación inmediata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Cliente no queda bloqueado, continúa ejecutando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Implementado con multi-threading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El resultado se recibe en otro momento</a:t>
            </a:r>
            <a:endParaRPr lang="en-US" sz="2000" dirty="0">
              <a:latin typeface="Tw Cen MT" panose="020B0602020104020603" pitchFamily="34" charset="7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w Cen MT" panose="020B0602020104020603" pitchFamily="34" charset="77"/>
                <a:ea typeface="Calibri" pitchFamily="34" charset="-122"/>
                <a:cs typeface="Calibri" pitchFamily="34" charset="-120"/>
              </a:rPr>
              <a:t>Mayor rendimiento y escalabilidad</a:t>
            </a:r>
            <a:endParaRPr lang="en-US" sz="2000" dirty="0">
              <a:latin typeface="Tw Cen MT" panose="020B0602020104020603" pitchFamily="34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D07CFB8-9F72-48A1-777D-50802878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790" y="6444"/>
            <a:ext cx="5423210" cy="192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53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6" name="Rectangle 513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10FF32-896A-33A9-6358-A4136F64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</a:rPr>
              <a:t>Link </a:t>
            </a:r>
            <a:r>
              <a:rPr lang="es-CL" sz="4000" noProof="0" dirty="0" err="1">
                <a:solidFill>
                  <a:srgbClr val="FFFFFF"/>
                </a:solidFill>
              </a:rPr>
              <a:t>Github</a:t>
            </a:r>
            <a:endParaRPr lang="es-CL" sz="4000" noProof="0" dirty="0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2B0C51-72EC-481A-48CD-61DEE0A79C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176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5138" name="Straight Connector 513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0D78B-5722-8E64-0449-803CEC35D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784" y="2546224"/>
            <a:ext cx="5977938" cy="3342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noProof="0" dirty="0">
                <a:solidFill>
                  <a:srgbClr val="FFFFFF"/>
                </a:solidFill>
              </a:rPr>
              <a:t>Repositorio: </a:t>
            </a:r>
          </a:p>
          <a:p>
            <a:pPr marL="0" indent="0">
              <a:buNone/>
            </a:pPr>
            <a:r>
              <a:rPr lang="es-CL" sz="1800" dirty="0">
                <a:solidFill>
                  <a:srgbClr val="FFFFFF"/>
                </a:solidFill>
                <a:hlinkClick r:id="rId3"/>
              </a:rPr>
              <a:t>https://github.com/VicenteDiazH/AY-SD2026-1-S3</a:t>
            </a:r>
            <a:endParaRPr lang="es-CL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sz="1800" noProof="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sz="1800" noProof="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sz="18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032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430"/>
      </a:dk2>
      <a:lt2>
        <a:srgbClr val="F0F3F1"/>
      </a:lt2>
      <a:accent1>
        <a:srgbClr val="CB45B5"/>
      </a:accent1>
      <a:accent2>
        <a:srgbClr val="9833B9"/>
      </a:accent2>
      <a:accent3>
        <a:srgbClr val="7145CB"/>
      </a:accent3>
      <a:accent4>
        <a:srgbClr val="3843BB"/>
      </a:accent4>
      <a:accent5>
        <a:srgbClr val="4588CB"/>
      </a:accent5>
      <a:accent6>
        <a:srgbClr val="33AEB9"/>
      </a:accent6>
      <a:hlink>
        <a:srgbClr val="3F6ABF"/>
      </a:hlink>
      <a:folHlink>
        <a:srgbClr val="7F7F7F"/>
      </a:folHlink>
    </a:clrScheme>
    <a:fontScheme name="Retrospect">
      <a:majorFont>
        <a:latin typeface="Tw Cen M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1118</Words>
  <Application>Microsoft Macintosh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Helvetica</vt:lpstr>
      <vt:lpstr>Tw Cen MT</vt:lpstr>
      <vt:lpstr>Wingdings</vt:lpstr>
      <vt:lpstr>RetrospectVTI</vt:lpstr>
      <vt:lpstr>Ayudantía 3</vt:lpstr>
      <vt:lpstr>Contacto</vt:lpstr>
      <vt:lpstr>PowerPoint Presentation</vt:lpstr>
      <vt:lpstr>Fundamentos de la red</vt:lpstr>
      <vt:lpstr>Fundamentos de la 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Ayudantía 1</dc:title>
  <dc:creator>211330716</dc:creator>
  <cp:lastModifiedBy>211330716</cp:lastModifiedBy>
  <cp:revision>31</cp:revision>
  <dcterms:created xsi:type="dcterms:W3CDTF">2024-03-19T23:19:18Z</dcterms:created>
  <dcterms:modified xsi:type="dcterms:W3CDTF">2026-04-08T20:48:32Z</dcterms:modified>
</cp:coreProperties>
</file>